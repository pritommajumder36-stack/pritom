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282" r:id="rId5"/>
    <p:sldId id="256" r:id="rId6"/>
    <p:sldId id="272" r:id="rId7"/>
    <p:sldId id="289" r:id="rId8"/>
    <p:sldId id="290" r:id="rId9"/>
    <p:sldId id="273" r:id="rId10"/>
    <p:sldId id="291" r:id="rId11"/>
    <p:sldId id="274" r:id="rId12"/>
    <p:sldId id="271" r:id="rId13"/>
    <p:sldId id="275" r:id="rId14"/>
    <p:sldId id="276" r:id="rId15"/>
    <p:sldId id="292" r:id="rId16"/>
    <p:sldId id="277" r:id="rId17"/>
    <p:sldId id="279" r:id="rId18"/>
    <p:sldId id="278" r:id="rId19"/>
    <p:sldId id="280" r:id="rId20"/>
    <p:sldId id="281" r:id="rId21"/>
    <p:sldId id="284" r:id="rId22"/>
    <p:sldId id="283" r:id="rId23"/>
    <p:sldId id="285" r:id="rId24"/>
    <p:sldId id="286" r:id="rId25"/>
    <p:sldId id="288" r:id="rId26"/>
    <p:sldId id="28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14067"/>
    <a:srgbClr val="3F3F3F"/>
    <a:srgbClr val="014E7D"/>
    <a:srgbClr val="013657"/>
    <a:srgbClr val="01456F"/>
    <a:srgbClr val="014B79"/>
    <a:srgbClr val="0937C9"/>
    <a:srgbClr val="002774"/>
    <a:srgbClr val="929A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74" autoAdjust="0"/>
  </p:normalViewPr>
  <p:slideViewPr>
    <p:cSldViewPr snapToGrid="0" showGuides="1">
      <p:cViewPr varScale="1">
        <p:scale>
          <a:sx n="115" d="100"/>
          <a:sy n="115" d="100"/>
        </p:scale>
        <p:origin x="372" y="126"/>
      </p:cViewPr>
      <p:guideLst>
        <p:guide pos="3840"/>
        <p:guide pos="597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BEDA40-91A9-49DC-B402-0EBE674AAE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CBB508-5589-42E7-A433-D119AC0FFB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2BFC85-49E4-447A-A7E3-16153CB2FE2A}" type="datetimeFigureOut">
              <a:rPr lang="en-US" smtClean="0"/>
              <a:t>2/27/2024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232ABA-B33A-4B3B-8412-C1773FBF3D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B1832E-3B48-42CB-80A7-CD8E48D52D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072A3-100F-40A9-915F-8D2D9E6962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5371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71B50E-4C60-4F9E-B773-52059170945B}" type="datetimeFigureOut">
              <a:rPr lang="en-US" noProof="0" smtClean="0"/>
              <a:t>2/27/2024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230CFA-805A-4FD3-B3A0-DAAA5993DA1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8927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73B47EE6-EDE6-4881-B456-B37D9C1ADE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 title="Subtitle">
            <a:extLst>
              <a:ext uri="{FF2B5EF4-FFF2-40B4-BE49-F238E27FC236}">
                <a16:creationId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 spc="30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04501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537" userDrawn="1">
          <p15:clr>
            <a:srgbClr val="FBAE40"/>
          </p15:clr>
        </p15:guide>
        <p15:guide id="3" pos="138" userDrawn="1">
          <p15:clr>
            <a:srgbClr val="FBAE40"/>
          </p15:clr>
        </p15:guide>
        <p15:guide id="4" orient="horz" pos="4178" userDrawn="1">
          <p15:clr>
            <a:srgbClr val="FBAE40"/>
          </p15:clr>
        </p15:guide>
        <p15:guide id="5" orient="horz" pos="142" userDrawn="1">
          <p15:clr>
            <a:srgbClr val="FBAE40"/>
          </p15:clr>
        </p15:guide>
        <p15:guide id="6" pos="2457" userDrawn="1">
          <p15:clr>
            <a:srgbClr val="FBAE40"/>
          </p15:clr>
        </p15:guide>
        <p15:guide id="7" pos="43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itle 1" title="Title">
            <a:extLst>
              <a:ext uri="{FF2B5EF4-FFF2-40B4-BE49-F238E27FC236}">
                <a16:creationId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1" name="Text Placeholder 2" title="Subtitle">
            <a:extLst>
              <a:ext uri="{FF2B5EF4-FFF2-40B4-BE49-F238E27FC236}">
                <a16:creationId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 spc="30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95572AA9-EFAE-4771-B1EE-47E3611737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2399830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83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143" userDrawn="1">
          <p15:clr>
            <a:srgbClr val="FBAE40"/>
          </p15:clr>
        </p15:guide>
        <p15:guide id="4" orient="horz" pos="4170" userDrawn="1">
          <p15:clr>
            <a:srgbClr val="FBAE40"/>
          </p15:clr>
        </p15:guide>
        <p15:guide id="5" pos="7537" userDrawn="1">
          <p15:clr>
            <a:srgbClr val="FBAE40"/>
          </p15:clr>
        </p15:guide>
        <p15:guide id="6" orient="horz" pos="14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title="Bullet Points">
            <a:extLst>
              <a:ext uri="{FF2B5EF4-FFF2-40B4-BE49-F238E27FC236}">
                <a16:creationId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96915"/>
            <a:ext cx="4942829" cy="29582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BD6ACE60-499D-41AB-89C4-D537D7C3D22A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6375400" y="5047077"/>
            <a:ext cx="1524574" cy="1803400"/>
          </a:xfrm>
          <a:prstGeom prst="line">
            <a:avLst/>
          </a:prstGeom>
          <a:ln>
            <a:solidFill>
              <a:srgbClr val="EAB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 title="Subtitle">
            <a:extLst>
              <a:ext uri="{FF2B5EF4-FFF2-40B4-BE49-F238E27FC236}">
                <a16:creationId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563477"/>
            <a:ext cx="7342631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" name="Title 1" title="Title ">
            <a:extLst>
              <a:ext uri="{FF2B5EF4-FFF2-40B4-BE49-F238E27FC236}">
                <a16:creationId xmlns:a16="http://schemas.microsoft.com/office/drawing/2014/main" id="{20237B57-91C6-4F8B-8AA0-18FA50B0FD1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31378" y="1308484"/>
            <a:ext cx="7342622" cy="121556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 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E1FADFB-0A3D-40F7-9B40-368DECD971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000" y="0"/>
            <a:ext cx="5588000" cy="6872249"/>
          </a:xfrm>
          <a:custGeom>
            <a:avLst/>
            <a:gdLst>
              <a:gd name="connsiteX0" fmla="*/ 3876237 w 5588000"/>
              <a:gd name="connsiteY0" fmla="*/ 5431883 h 6872249"/>
              <a:gd name="connsiteX1" fmla="*/ 4953000 w 5588000"/>
              <a:gd name="connsiteY1" fmla="*/ 5431883 h 6872249"/>
              <a:gd name="connsiteX2" fmla="*/ 3769163 w 5588000"/>
              <a:gd name="connsiteY2" fmla="*/ 6872249 h 6872249"/>
              <a:gd name="connsiteX3" fmla="*/ 2692400 w 5588000"/>
              <a:gd name="connsiteY3" fmla="*/ 6872249 h 6872249"/>
              <a:gd name="connsiteX4" fmla="*/ 2479230 w 5588000"/>
              <a:gd name="connsiteY4" fmla="*/ 2870200 h 6872249"/>
              <a:gd name="connsiteX5" fmla="*/ 3175000 w 5588000"/>
              <a:gd name="connsiteY5" fmla="*/ 2870200 h 6872249"/>
              <a:gd name="connsiteX6" fmla="*/ 1965770 w 5588000"/>
              <a:gd name="connsiteY6" fmla="*/ 4310566 h 6872249"/>
              <a:gd name="connsiteX7" fmla="*/ 1270000 w 5588000"/>
              <a:gd name="connsiteY7" fmla="*/ 4310566 h 6872249"/>
              <a:gd name="connsiteX8" fmla="*/ 5575300 w 5588000"/>
              <a:gd name="connsiteY8" fmla="*/ 139700 h 6872249"/>
              <a:gd name="connsiteX9" fmla="*/ 5575300 w 5588000"/>
              <a:gd name="connsiteY9" fmla="*/ 3238583 h 6872249"/>
              <a:gd name="connsiteX10" fmla="*/ 2571663 w 5588000"/>
              <a:gd name="connsiteY10" fmla="*/ 6858000 h 6872249"/>
              <a:gd name="connsiteX11" fmla="*/ 0 w 5588000"/>
              <a:gd name="connsiteY11" fmla="*/ 6858000 h 6872249"/>
              <a:gd name="connsiteX12" fmla="*/ 4256761 w 5588000"/>
              <a:gd name="connsiteY12" fmla="*/ 0 h 6872249"/>
              <a:gd name="connsiteX13" fmla="*/ 5588000 w 5588000"/>
              <a:gd name="connsiteY13" fmla="*/ 0 h 6872249"/>
              <a:gd name="connsiteX14" fmla="*/ 3274339 w 5588000"/>
              <a:gd name="connsiteY14" fmla="*/ 2755900 h 6872249"/>
              <a:gd name="connsiteX15" fmla="*/ 1943100 w 5588000"/>
              <a:gd name="connsiteY15" fmla="*/ 2755900 h 687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88000" h="6872249">
                <a:moveTo>
                  <a:pt x="3876237" y="5431883"/>
                </a:moveTo>
                <a:lnTo>
                  <a:pt x="4953000" y="5431883"/>
                </a:lnTo>
                <a:lnTo>
                  <a:pt x="3769163" y="6872249"/>
                </a:lnTo>
                <a:lnTo>
                  <a:pt x="2692400" y="6872249"/>
                </a:lnTo>
                <a:close/>
                <a:moveTo>
                  <a:pt x="2479230" y="2870200"/>
                </a:moveTo>
                <a:lnTo>
                  <a:pt x="3175000" y="2870200"/>
                </a:lnTo>
                <a:lnTo>
                  <a:pt x="1965770" y="4310566"/>
                </a:lnTo>
                <a:lnTo>
                  <a:pt x="1270000" y="4310566"/>
                </a:lnTo>
                <a:close/>
                <a:moveTo>
                  <a:pt x="5575300" y="139700"/>
                </a:moveTo>
                <a:lnTo>
                  <a:pt x="5575300" y="3238583"/>
                </a:lnTo>
                <a:lnTo>
                  <a:pt x="2571663" y="6858000"/>
                </a:lnTo>
                <a:lnTo>
                  <a:pt x="0" y="6858000"/>
                </a:lnTo>
                <a:close/>
                <a:moveTo>
                  <a:pt x="4256761" y="0"/>
                </a:moveTo>
                <a:lnTo>
                  <a:pt x="5588000" y="0"/>
                </a:lnTo>
                <a:lnTo>
                  <a:pt x="3274339" y="2755900"/>
                </a:lnTo>
                <a:lnTo>
                  <a:pt x="1943100" y="2755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DB14A5-A767-774C-85B8-68EF914689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9B51B-EAA9-4B4D-A4F6-470CD95DAA7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4223058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ight Triangle 34">
            <a:extLst>
              <a:ext uri="{FF2B5EF4-FFF2-40B4-BE49-F238E27FC236}">
                <a16:creationId xmlns:a16="http://schemas.microsoft.com/office/drawing/2014/main" id="{805F1696-7D6B-4055-94C3-E4C179F63596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B9EC3A9-7039-403A-9414-429521308A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0177" y="1435100"/>
            <a:ext cx="6021821" cy="5422900"/>
          </a:xfrm>
          <a:custGeom>
            <a:avLst/>
            <a:gdLst>
              <a:gd name="connsiteX0" fmla="*/ 6021821 w 6021821"/>
              <a:gd name="connsiteY0" fmla="*/ 0 h 5422900"/>
              <a:gd name="connsiteX1" fmla="*/ 6021821 w 6021821"/>
              <a:gd name="connsiteY1" fmla="*/ 5422900 h 5422900"/>
              <a:gd name="connsiteX2" fmla="*/ 0 w 6021821"/>
              <a:gd name="connsiteY2" fmla="*/ 5422900 h 542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21821" h="5422900">
                <a:moveTo>
                  <a:pt x="6021821" y="0"/>
                </a:moveTo>
                <a:lnTo>
                  <a:pt x="6021821" y="5422900"/>
                </a:lnTo>
                <a:lnTo>
                  <a:pt x="0" y="5422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rIns="365760" anchor="ctr">
            <a:noAutofit/>
          </a:bodyPr>
          <a:lstStyle>
            <a:lvl1pPr marL="0" indent="0" algn="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3" name="Content Placeholder 2" title="Bullet Points">
            <a:extLst>
              <a:ext uri="{FF2B5EF4-FFF2-40B4-BE49-F238E27FC236}">
                <a16:creationId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96915"/>
            <a:ext cx="4942829" cy="29582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352314" y="1185452"/>
            <a:ext cx="1839685" cy="163394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 title="Subtitle">
            <a:extLst>
              <a:ext uri="{FF2B5EF4-FFF2-40B4-BE49-F238E27FC236}">
                <a16:creationId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563477"/>
            <a:ext cx="7342621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B154C1-CE47-4220-9832-4FD0868A64A8}"/>
              </a:ext>
            </a:extLst>
          </p:cNvPr>
          <p:cNvSpPr txBox="1"/>
          <p:nvPr userDrawn="1"/>
        </p:nvSpPr>
        <p:spPr>
          <a:xfrm>
            <a:off x="11073384" y="237744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19" name="Title 1" title="Title ">
            <a:extLst>
              <a:ext uri="{FF2B5EF4-FFF2-40B4-BE49-F238E27FC236}">
                <a16:creationId xmlns:a16="http://schemas.microsoft.com/office/drawing/2014/main" id="{2DB9D671-9FC8-4306-96B7-D9D585694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378" y="1308484"/>
            <a:ext cx="7342622" cy="121556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E55A0B9-F639-8643-9C4D-B93B8EE21A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29282-8AC7-494D-9A8E-A26C7F69948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8311092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i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2E19FBD-2379-4B3B-910D-F51E007CB63F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20698" y="2104888"/>
            <a:ext cx="5475290" cy="7811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8" name="Content Placeholder 3" title="Bullet Points">
            <a:extLst>
              <a:ext uri="{FF2B5EF4-FFF2-40B4-BE49-F238E27FC236}">
                <a16:creationId xmlns:a16="http://schemas.microsoft.com/office/drawing/2014/main" id="{8715E757-6584-4841-8154-C92E70E0CD6B}"/>
              </a:ext>
            </a:extLst>
          </p:cNvPr>
          <p:cNvSpPr>
            <a:spLocks noGrp="1"/>
          </p:cNvSpPr>
          <p:nvPr userDrawn="1">
            <p:ph sz="half" idx="13"/>
          </p:nvPr>
        </p:nvSpPr>
        <p:spPr>
          <a:xfrm>
            <a:off x="520698" y="2886076"/>
            <a:ext cx="5475290" cy="32321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IN" dirty="0">
                <a:solidFill>
                  <a:schemeClr val="tx1"/>
                </a:solidFill>
              </a:defRPr>
            </a:lvl5pPr>
          </a:lstStyle>
          <a:p>
            <a:pPr lvl="0">
              <a:buClr>
                <a:schemeClr val="accent2"/>
              </a:buClr>
            </a:pPr>
            <a:r>
              <a:rPr lang="en-US" noProof="0" smtClean="0"/>
              <a:t>Edit Master text styles</a:t>
            </a:r>
          </a:p>
          <a:p>
            <a:pPr lvl="1">
              <a:buClr>
                <a:schemeClr val="accent2"/>
              </a:buClr>
            </a:pPr>
            <a:r>
              <a:rPr lang="en-US" noProof="0" smtClean="0"/>
              <a:t>Second level</a:t>
            </a:r>
          </a:p>
          <a:p>
            <a:pPr lvl="2">
              <a:buClr>
                <a:schemeClr val="accent2"/>
              </a:buClr>
            </a:pPr>
            <a:r>
              <a:rPr lang="en-US" noProof="0" smtClean="0"/>
              <a:t>Third level</a:t>
            </a:r>
          </a:p>
          <a:p>
            <a:pPr lvl="3">
              <a:buClr>
                <a:schemeClr val="accent2"/>
              </a:buClr>
            </a:pPr>
            <a:r>
              <a:rPr lang="en-US" noProof="0" smtClean="0"/>
              <a:t>Fourth level</a:t>
            </a:r>
          </a:p>
          <a:p>
            <a:pPr lvl="4">
              <a:buClr>
                <a:schemeClr val="accent2"/>
              </a:buClr>
            </a:pPr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7CDC5A2-8836-4ED3-8E78-18C24853D882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6186713" y="2104888"/>
            <a:ext cx="5475600" cy="7811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0" name="Content Placeholder 5" title="Bullet Points">
            <a:extLst>
              <a:ext uri="{FF2B5EF4-FFF2-40B4-BE49-F238E27FC236}">
                <a16:creationId xmlns:a16="http://schemas.microsoft.com/office/drawing/2014/main" id="{D957FBD7-2C3C-4DD1-954F-DF1E007BE590}"/>
              </a:ext>
            </a:extLst>
          </p:cNvPr>
          <p:cNvSpPr>
            <a:spLocks noGrp="1"/>
          </p:cNvSpPr>
          <p:nvPr userDrawn="1">
            <p:ph sz="quarter" idx="15"/>
          </p:nvPr>
        </p:nvSpPr>
        <p:spPr>
          <a:xfrm>
            <a:off x="6186713" y="2886076"/>
            <a:ext cx="5475600" cy="32321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IN" dirty="0">
                <a:solidFill>
                  <a:schemeClr val="tx1"/>
                </a:solidFill>
              </a:defRPr>
            </a:lvl5pPr>
          </a:lstStyle>
          <a:p>
            <a:pPr lvl="0">
              <a:buClr>
                <a:schemeClr val="accent2"/>
              </a:buClr>
            </a:pPr>
            <a:r>
              <a:rPr lang="en-US" noProof="0" smtClean="0"/>
              <a:t>Edit Master text styles</a:t>
            </a:r>
          </a:p>
          <a:p>
            <a:pPr lvl="1">
              <a:buClr>
                <a:schemeClr val="accent2"/>
              </a:buClr>
            </a:pPr>
            <a:r>
              <a:rPr lang="en-US" noProof="0" smtClean="0"/>
              <a:t>Second level</a:t>
            </a:r>
          </a:p>
          <a:p>
            <a:pPr lvl="2">
              <a:buClr>
                <a:schemeClr val="accent2"/>
              </a:buClr>
            </a:pPr>
            <a:r>
              <a:rPr lang="en-US" noProof="0" smtClean="0"/>
              <a:t>Third level</a:t>
            </a:r>
          </a:p>
          <a:p>
            <a:pPr lvl="3">
              <a:buClr>
                <a:schemeClr val="accent2"/>
              </a:buClr>
            </a:pPr>
            <a:r>
              <a:rPr lang="en-US" noProof="0" smtClean="0"/>
              <a:t>Fourth level</a:t>
            </a:r>
          </a:p>
          <a:p>
            <a:pPr lvl="4">
              <a:buClr>
                <a:schemeClr val="accent2"/>
              </a:buClr>
            </a:pPr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4" name="Text Placeholder 4" title="Subtitle">
            <a:extLst>
              <a:ext uri="{FF2B5EF4-FFF2-40B4-BE49-F238E27FC236}">
                <a16:creationId xmlns:a16="http://schemas.microsoft.com/office/drawing/2014/main" id="{77DB65FF-A89E-4562-8251-2BB63EFDD28E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</p:spTree>
    <p:extLst>
      <p:ext uri="{BB962C8B-B14F-4D97-AF65-F5344CB8AC3E}">
        <p14:creationId xmlns:p14="http://schemas.microsoft.com/office/powerpoint/2010/main" val="325654026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4F49194-9068-41AA-B460-962319BF96A4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806E656-313A-47B1-B381-D004200F7A01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9" name="Diagonal Stripe 28">
              <a:extLst>
                <a:ext uri="{FF2B5EF4-FFF2-40B4-BE49-F238E27FC236}">
                  <a16:creationId xmlns:a16="http://schemas.microsoft.com/office/drawing/2014/main" id="{65F8E2DA-4BB4-4421-9172-A11AF38DFEF4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EDB47F2-B6A7-40B4-8A2C-06719F75C08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188E7A9-2351-4B68-98B8-10099CB39CD2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3" name="Parallelogram 32">
            <a:extLst>
              <a:ext uri="{FF2B5EF4-FFF2-40B4-BE49-F238E27FC236}">
                <a16:creationId xmlns:a16="http://schemas.microsoft.com/office/drawing/2014/main" id="{F088C182-BF10-45B2-B159-7702E00D31D4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34" name="Text Placeholder 4" title="Subtitle">
            <a:extLst>
              <a:ext uri="{FF2B5EF4-FFF2-40B4-BE49-F238E27FC236}">
                <a16:creationId xmlns:a16="http://schemas.microsoft.com/office/drawing/2014/main" id="{FB561B16-2788-452A-B7AF-A482256DCD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990C03-1647-2044-B335-6F5F19E4E5F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03A7CC-E6DC-1544-BE55-15EC1718B7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7" name="Title 1" title="Title ">
            <a:extLst>
              <a:ext uri="{FF2B5EF4-FFF2-40B4-BE49-F238E27FC236}">
                <a16:creationId xmlns:a16="http://schemas.microsoft.com/office/drawing/2014/main" id="{BDEC780E-6412-1344-A62E-6B84E9CCB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82AC85-33B6-2B49-8BF4-0841444437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1814" y="2005762"/>
            <a:ext cx="5225764" cy="4083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Text here</a:t>
            </a:r>
          </a:p>
        </p:txBody>
      </p:sp>
      <p:sp>
        <p:nvSpPr>
          <p:cNvPr id="20" name="Chart Placeholder 2" title="Chart">
            <a:extLst>
              <a:ext uri="{FF2B5EF4-FFF2-40B4-BE49-F238E27FC236}">
                <a16:creationId xmlns:a16="http://schemas.microsoft.com/office/drawing/2014/main" id="{0EF0FD2A-B62A-4931-846D-2602DED26606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796114" y="2005762"/>
            <a:ext cx="5719397" cy="4084470"/>
          </a:xfrm>
          <a:prstGeom prst="rect">
            <a:avLst/>
          </a:prstGeom>
        </p:spPr>
        <p:txBody>
          <a:bodyPr vert="horz" lIns="91420" tIns="45710" rIns="91420" bIns="45710">
            <a:no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smtClean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0047707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able Placeholder 11" title="Table">
            <a:extLst>
              <a:ext uri="{FF2B5EF4-FFF2-40B4-BE49-F238E27FC236}">
                <a16:creationId xmlns:a16="http://schemas.microsoft.com/office/drawing/2014/main" id="{7CD3E31F-0AF8-4EB8-B6FA-BD95A2EDA63B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31378" y="2664803"/>
            <a:ext cx="10993375" cy="3433180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0" indent="0" algn="ctr"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noProof="0" smtClean="0"/>
              <a:t>Click icon to add table</a:t>
            </a:r>
            <a:endParaRPr 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4020D1-D35E-497E-97F1-84A6EA9D048E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6C8A74F-FDDF-48E8-AC2B-A5BD59D7D6A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Diagonal Stripe 26">
              <a:extLst>
                <a:ext uri="{FF2B5EF4-FFF2-40B4-BE49-F238E27FC236}">
                  <a16:creationId xmlns:a16="http://schemas.microsoft.com/office/drawing/2014/main" id="{2D5247F3-E6EB-4003-B1FD-F6200F0738E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9B7D995-9FB8-4461-8AAA-FA8B9A145B6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849B962F-68BC-4B89-B4D8-D862517534DF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8006416B-866C-47E5-8480-109B40F9EAA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7" name="Text Placeholder 4" title="Subtitle">
            <a:extLst>
              <a:ext uri="{FF2B5EF4-FFF2-40B4-BE49-F238E27FC236}">
                <a16:creationId xmlns:a16="http://schemas.microsoft.com/office/drawing/2014/main" id="{FE79FAE9-2A8C-46BA-8738-44CBCF7294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50A33E-CEFE-4D43-9554-513B01B1D3D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960C75-8FA7-5740-9388-2B5112B2C5B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7" name="Title 1" title="Title ">
            <a:extLst>
              <a:ext uri="{FF2B5EF4-FFF2-40B4-BE49-F238E27FC236}">
                <a16:creationId xmlns:a16="http://schemas.microsoft.com/office/drawing/2014/main" id="{0F525D04-A814-7A4D-9732-11097EA762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</p:spTree>
    <p:extLst>
      <p:ext uri="{BB962C8B-B14F-4D97-AF65-F5344CB8AC3E}">
        <p14:creationId xmlns:p14="http://schemas.microsoft.com/office/powerpoint/2010/main" val="341506091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79ED029D-F488-47E5-B064-0E35B31D23A5}"/>
              </a:ext>
            </a:extLst>
          </p:cNvPr>
          <p:cNvSpPr/>
          <p:nvPr userDrawn="1"/>
        </p:nvSpPr>
        <p:spPr>
          <a:xfrm flipV="1">
            <a:off x="0" y="-5"/>
            <a:ext cx="11747500" cy="6299203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Picture Placeholder 31" title="Image">
            <a:extLst>
              <a:ext uri="{FF2B5EF4-FFF2-40B4-BE49-F238E27FC236}">
                <a16:creationId xmlns:a16="http://schemas.microsoft.com/office/drawing/2014/main" id="{D683190A-95C6-428D-AEE4-FC8350C3246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9229" y="326570"/>
            <a:ext cx="11473542" cy="62048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0" anchor="ctr"/>
          <a:lstStyle>
            <a:lvl1pPr marL="0" indent="0" algn="ctr"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8F4957-6DDE-40CE-9D33-00B1434FA08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5344886"/>
            <a:ext cx="2362200" cy="12409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 title="Title ">
            <a:extLst>
              <a:ext uri="{FF2B5EF4-FFF2-40B4-BE49-F238E27FC236}">
                <a16:creationId xmlns:a16="http://schemas.microsoft.com/office/drawing/2014/main" id="{D9A8085F-72C4-4DFB-813E-C5666B0CC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229" y="558802"/>
            <a:ext cx="8333222" cy="939798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lIns="288000" anchor="ctr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Add Caption Here</a:t>
            </a:r>
          </a:p>
        </p:txBody>
      </p:sp>
    </p:spTree>
    <p:extLst>
      <p:ext uri="{BB962C8B-B14F-4D97-AF65-F5344CB8AC3E}">
        <p14:creationId xmlns:p14="http://schemas.microsoft.com/office/powerpoint/2010/main" val="423757677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1821022"/>
            <a:ext cx="4853573" cy="16162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488AB73-8058-4FB5-9619-FCECCA9F39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2929" y="3461163"/>
            <a:ext cx="3445782" cy="2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Name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59BE165-3EB5-4C11-8B53-6E98C0BC2E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22929" y="3839451"/>
            <a:ext cx="3445782" cy="2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Phone Number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9D05293-35AD-495F-A7AE-942398090B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22928" y="4216669"/>
            <a:ext cx="3445783" cy="2890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Email </a:t>
            </a:r>
          </a:p>
        </p:txBody>
      </p:sp>
      <p:sp>
        <p:nvSpPr>
          <p:cNvPr id="13" name="Text Placeholder 21">
            <a:extLst>
              <a:ext uri="{FF2B5EF4-FFF2-40B4-BE49-F238E27FC236}">
                <a16:creationId xmlns:a16="http://schemas.microsoft.com/office/drawing/2014/main" id="{997A03F2-8D8A-4425-9F56-66DB33CE11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22929" y="4594957"/>
            <a:ext cx="3445782" cy="2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Company Website</a:t>
            </a:r>
          </a:p>
        </p:txBody>
      </p:sp>
      <p:sp>
        <p:nvSpPr>
          <p:cNvPr id="14" name="Shape 4157">
            <a:extLst>
              <a:ext uri="{FF2B5EF4-FFF2-40B4-BE49-F238E27FC236}">
                <a16:creationId xmlns:a16="http://schemas.microsoft.com/office/drawing/2014/main" id="{A30A8F28-98F4-425F-A750-78192A157DF4}"/>
              </a:ext>
            </a:extLst>
          </p:cNvPr>
          <p:cNvSpPr/>
          <p:nvPr userDrawn="1"/>
        </p:nvSpPr>
        <p:spPr>
          <a:xfrm>
            <a:off x="6458938" y="3505247"/>
            <a:ext cx="258875" cy="258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noProof="0" dirty="0"/>
          </a:p>
        </p:txBody>
      </p:sp>
      <p:sp>
        <p:nvSpPr>
          <p:cNvPr id="15" name="Shape 4186">
            <a:extLst>
              <a:ext uri="{FF2B5EF4-FFF2-40B4-BE49-F238E27FC236}">
                <a16:creationId xmlns:a16="http://schemas.microsoft.com/office/drawing/2014/main" id="{2F84D399-8148-4E86-A1E4-BE7D1D81383A}"/>
              </a:ext>
            </a:extLst>
          </p:cNvPr>
          <p:cNvSpPr/>
          <p:nvPr userDrawn="1"/>
        </p:nvSpPr>
        <p:spPr>
          <a:xfrm>
            <a:off x="6507622" y="3897986"/>
            <a:ext cx="161507" cy="2960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noProof="0" dirty="0"/>
          </a:p>
        </p:txBody>
      </p:sp>
      <p:sp>
        <p:nvSpPr>
          <p:cNvPr id="19" name="Shape 4379">
            <a:extLst>
              <a:ext uri="{FF2B5EF4-FFF2-40B4-BE49-F238E27FC236}">
                <a16:creationId xmlns:a16="http://schemas.microsoft.com/office/drawing/2014/main" id="{E4408FF8-E342-42F8-BBE9-1220822B5E99}"/>
              </a:ext>
            </a:extLst>
          </p:cNvPr>
          <p:cNvSpPr/>
          <p:nvPr userDrawn="1"/>
        </p:nvSpPr>
        <p:spPr>
          <a:xfrm>
            <a:off x="6458938" y="4327945"/>
            <a:ext cx="258875" cy="1882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noProof="0" dirty="0"/>
          </a:p>
        </p:txBody>
      </p:sp>
      <p:sp>
        <p:nvSpPr>
          <p:cNvPr id="20" name="Shape 4487">
            <a:extLst>
              <a:ext uri="{FF2B5EF4-FFF2-40B4-BE49-F238E27FC236}">
                <a16:creationId xmlns:a16="http://schemas.microsoft.com/office/drawing/2014/main" id="{11D27456-C005-4109-9E74-0B692200A0B3}"/>
              </a:ext>
            </a:extLst>
          </p:cNvPr>
          <p:cNvSpPr/>
          <p:nvPr userDrawn="1"/>
        </p:nvSpPr>
        <p:spPr>
          <a:xfrm>
            <a:off x="6471716" y="4650082"/>
            <a:ext cx="233318" cy="2333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noProof="0" dirty="0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FDDD2B84-3CB9-4567-8C91-C538E8A1C89F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4EF3020-1476-41B1-9FE7-B476A25C53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1B64EC3-B232-415D-8E27-EB3E24D13922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261CE2F-F199-4242-AC6C-692676B81FF1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icture Placeholder 24">
            <a:extLst>
              <a:ext uri="{FF2B5EF4-FFF2-40B4-BE49-F238E27FC236}">
                <a16:creationId xmlns:a16="http://schemas.microsoft.com/office/drawing/2014/main" id="{89C0506D-0CA6-4583-9D04-24E7F4D16A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3905128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 title="Subtitle">
            <a:extLst>
              <a:ext uri="{FF2B5EF4-FFF2-40B4-BE49-F238E27FC236}">
                <a16:creationId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 spc="30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456172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itle 1" title="Title">
            <a:extLst>
              <a:ext uri="{FF2B5EF4-FFF2-40B4-BE49-F238E27FC236}">
                <a16:creationId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1" name="Text Placeholder 2" title="Subtitle">
            <a:extLst>
              <a:ext uri="{FF2B5EF4-FFF2-40B4-BE49-F238E27FC236}">
                <a16:creationId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 spc="30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078656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orient="horz" pos="4170">
          <p15:clr>
            <a:srgbClr val="FBAE40"/>
          </p15:clr>
        </p15:guide>
        <p15:guide id="5" pos="7537">
          <p15:clr>
            <a:srgbClr val="FBAE40"/>
          </p15:clr>
        </p15:guide>
        <p15:guide id="6" orient="horz" pos="14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accent6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1FAE0C34-9220-45F0-9FC2-9FE7C994E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78" y="1671924"/>
            <a:ext cx="10835122" cy="450503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54343043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accent6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17F9213-0142-420B-A84D-C5627A0C81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9687" y="1651044"/>
            <a:ext cx="5181600" cy="452591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8014328B-D576-4B5C-A4AE-CF9831892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51044"/>
            <a:ext cx="5181600" cy="452591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8481316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accent6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2BFF385-445D-4DBB-9773-F99669415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678" y="1681163"/>
            <a:ext cx="538250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b="1" dirty="0">
                <a:solidFill>
                  <a:schemeClr val="accent6"/>
                </a:solidFill>
              </a:defRPr>
            </a:lvl1pPr>
          </a:lstStyle>
          <a:p>
            <a:pPr marL="228600" lvl="0" indent="-228600"/>
            <a:r>
              <a:rPr lang="en-US" noProof="0" smtClean="0"/>
              <a:t>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311B1CFE-1B35-4B5C-B40A-DC5ADF211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1CE840E8-D596-479D-AE97-E88F42DC1B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9A68D25-B19E-4E84-B65D-596EE8382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678" y="2505075"/>
            <a:ext cx="5391749" cy="3684588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5226781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 sz="1600">
                <a:solidFill>
                  <a:schemeClr val="accent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9A1E80C-1A76-4D3E-92A1-846866867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1316" y="2290713"/>
            <a:ext cx="5803672" cy="4341862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 sz="2400"/>
            </a:lvl1pPr>
            <a:lvl2pPr>
              <a:buClr>
                <a:schemeClr val="accent2"/>
              </a:buClr>
              <a:defRPr sz="2000"/>
            </a:lvl2pPr>
            <a:lvl3pPr>
              <a:buClr>
                <a:schemeClr val="accent2"/>
              </a:buClr>
              <a:defRPr sz="1800"/>
            </a:lvl3pPr>
            <a:lvl4pPr>
              <a:buClr>
                <a:schemeClr val="accent2"/>
              </a:buClr>
              <a:defRPr sz="1600"/>
            </a:lvl4pPr>
            <a:lvl5pPr>
              <a:buClr>
                <a:schemeClr val="accent2"/>
              </a:buCl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5526537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 sz="1600">
                <a:solidFill>
                  <a:schemeClr val="accent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22728E0A-430E-4C6A-BF56-06FA8510F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49970" y="2271860"/>
            <a:ext cx="5715017" cy="43607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1430260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C52C5C1-EC33-44C1-9D54-A1058BBF1812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A0030CD-8C9E-4AA5-8C5D-F9B2EDB7E17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Diagonal Stripe 26">
              <a:extLst>
                <a:ext uri="{FF2B5EF4-FFF2-40B4-BE49-F238E27FC236}">
                  <a16:creationId xmlns:a16="http://schemas.microsoft.com/office/drawing/2014/main" id="{872EE65E-EE50-4A3E-861E-1D6C241CB8EA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76AD1EF-E06C-4D3C-9693-26844D01C83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Parallelogram 28">
              <a:extLst>
                <a:ext uri="{FF2B5EF4-FFF2-40B4-BE49-F238E27FC236}">
                  <a16:creationId xmlns:a16="http://schemas.microsoft.com/office/drawing/2014/main" id="{57D44C42-44C0-420A-A125-9B1A979D4F56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Parallelogram 29">
            <a:extLst>
              <a:ext uri="{FF2B5EF4-FFF2-40B4-BE49-F238E27FC236}">
                <a16:creationId xmlns:a16="http://schemas.microsoft.com/office/drawing/2014/main" id="{406089BB-36DC-4E23-B215-527A8A18FCF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8C43A6-50C6-704E-BADC-6D83BADE73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91439B-965F-3548-AF77-89501B24F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1990684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7E8A2C98-F26E-415A-B931-1B89CA46C1CF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B2FB48C-0C70-4DBE-B904-A134B6644DD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8" name="Diagonal Stripe 27">
              <a:extLst>
                <a:ext uri="{FF2B5EF4-FFF2-40B4-BE49-F238E27FC236}">
                  <a16:creationId xmlns:a16="http://schemas.microsoft.com/office/drawing/2014/main" id="{4F2E2158-1E6E-4E0D-BDAB-B20041C7361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26D62DB-3A5A-4DA1-BFA4-D9E58676E86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F5A729A7-3A5C-405C-AE06-180E7529E477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1" name="Parallelogram 30">
            <a:extLst>
              <a:ext uri="{FF2B5EF4-FFF2-40B4-BE49-F238E27FC236}">
                <a16:creationId xmlns:a16="http://schemas.microsoft.com/office/drawing/2014/main" id="{41E23981-B12A-4AC3-A030-337BBBA5E45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33" name="Title 1" title="Title ">
            <a:extLst>
              <a:ext uri="{FF2B5EF4-FFF2-40B4-BE49-F238E27FC236}">
                <a16:creationId xmlns:a16="http://schemas.microsoft.com/office/drawing/2014/main" id="{59067A2C-FE71-4381-BE51-08DAC5E435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21556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69A007-934D-7A4B-9EFA-82044EF4DC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154DC2-98C7-4D4B-A17A-AA4731217F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5841909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CE2EB-00DF-4EBA-BF1F-D37805D45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918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16155-303B-403D-8B49-D4CEE47D6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53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15EF5-4ABE-4759-AC09-679CD6083A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6971" y="6356350"/>
            <a:ext cx="7402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8699F50C-BE38-4BD0-BA84-9B090E1F2B9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AA2D2B61-D240-024D-AD60-4162EF152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10835122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564885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85" r:id="rId3"/>
    <p:sldLayoutId id="2147483706" r:id="rId4"/>
    <p:sldLayoutId id="2147483708" r:id="rId5"/>
    <p:sldLayoutId id="2147483704" r:id="rId6"/>
    <p:sldLayoutId id="2147483689" r:id="rId7"/>
    <p:sldLayoutId id="2147483668" r:id="rId8"/>
    <p:sldLayoutId id="2147483707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692" r:id="rId17"/>
    <p:sldLayoutId id="2147483697" r:id="rId18"/>
    <p:sldLayoutId id="2147483674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IN"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2E7A40"/>
        </a:buClr>
        <a:buFont typeface="Arial" panose="020B0604020202020204" pitchFamily="34" charset="0"/>
        <a:buChar char="•"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IN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1tM96B77n0U&amp;list=PPSV" TargetMode="External"/><Relationship Id="rId3" Type="http://schemas.openxmlformats.org/officeDocument/2006/relationships/hyperlink" Target="https://www.sciencedirect.com/science/article/pii/S0142112321004114" TargetMode="External"/><Relationship Id="rId7" Type="http://schemas.openxmlformats.org/officeDocument/2006/relationships/hyperlink" Target="https://www.youtube.com/watch?v=OhB9i-kdlwI&amp;list=PPSV" TargetMode="External"/><Relationship Id="rId2" Type="http://schemas.openxmlformats.org/officeDocument/2006/relationships/hyperlink" Target="https://www.researchgate.net/publication/272565986_Nickel_Base_Superalloys_used_for_Aero_Engine_Turbine_Blades" TargetMode="Externa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www.youtube.com/watch?v=1zHSK-Nlaz0&amp;list=PPSV" TargetMode="External"/><Relationship Id="rId5" Type="http://schemas.openxmlformats.org/officeDocument/2006/relationships/hyperlink" Target="https://www.youtube.com/watch?v=k6m5iJOk24o&amp;list=PPSV" TargetMode="External"/><Relationship Id="rId4" Type="http://schemas.openxmlformats.org/officeDocument/2006/relationships/hyperlink" Target="https://www.sciencedirect.com/science/article/abs/pii/B9780128035818025741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0696" y="216132"/>
            <a:ext cx="1788622" cy="17886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5142" y="2309373"/>
            <a:ext cx="5793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COURSE NO: </a:t>
            </a:r>
            <a:r>
              <a:rPr lang="en-US" sz="2800" dirty="0" smtClean="0"/>
              <a:t>MME314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615142" y="2832593"/>
            <a:ext cx="116766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COURSE TITLE:</a:t>
            </a:r>
            <a:r>
              <a:rPr lang="en-US" sz="2800" b="1" dirty="0" smtClean="0"/>
              <a:t> </a:t>
            </a:r>
            <a:r>
              <a:rPr lang="en-US" sz="2800" dirty="0" smtClean="0"/>
              <a:t>MECHANICAL BEHAVIOUR OF MATERIALS LABORATORY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615142" y="3915295"/>
            <a:ext cx="534508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 smtClean="0"/>
              <a:t>COURSE TEACHER:</a:t>
            </a:r>
          </a:p>
          <a:p>
            <a:endParaRPr lang="en-US" sz="2000" dirty="0"/>
          </a:p>
          <a:p>
            <a:r>
              <a:rPr lang="en-US" sz="2000" dirty="0" smtClean="0"/>
              <a:t>1. AHSIUR RAHMAN NIRJHAR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  LECTURER</a:t>
            </a:r>
          </a:p>
          <a:p>
            <a:endParaRPr lang="en-US" sz="2000" dirty="0"/>
          </a:p>
          <a:p>
            <a:r>
              <a:rPr lang="en-US" sz="2000" dirty="0" smtClean="0"/>
              <a:t>2. KOUSHIK ROY CHOWDHURY</a:t>
            </a:r>
            <a:br>
              <a:rPr lang="en-US" sz="2000" dirty="0" smtClean="0"/>
            </a:br>
            <a:r>
              <a:rPr lang="en-US" sz="2000" dirty="0" smtClean="0"/>
              <a:t>    LECTURER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19495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257F6BCE-75BB-4ECD-BEA5-21C36A9CC0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95820">
            <a:off x="1191793" y="1409535"/>
            <a:ext cx="4776977" cy="3714821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638ACE-163E-40EB-A458-E794C67EA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4562" y="1740077"/>
            <a:ext cx="5436664" cy="161625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Creep Failure of Ni-Based </a:t>
            </a:r>
            <a:r>
              <a:rPr lang="en-US" dirty="0" err="1" smtClean="0"/>
              <a:t>Superalloy</a:t>
            </a:r>
            <a:r>
              <a:rPr lang="en-US" dirty="0" smtClean="0"/>
              <a:t> </a:t>
            </a:r>
            <a:r>
              <a:rPr lang="en-US" dirty="0" smtClean="0"/>
              <a:t>(K403)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9205DF-8F5E-49F7-B00E-6F58293F5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14562" y="3387186"/>
            <a:ext cx="4854339" cy="1257574"/>
          </a:xfrm>
        </p:spPr>
        <p:txBody>
          <a:bodyPr/>
          <a:lstStyle/>
          <a:p>
            <a:r>
              <a:rPr lang="en-US" dirty="0" smtClean="0"/>
              <a:t>Case Study of Creep Failure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318567" y="4829051"/>
            <a:ext cx="27986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Presented By</a:t>
            </a:r>
          </a:p>
          <a:p>
            <a:r>
              <a:rPr lang="en-US" dirty="0" smtClean="0"/>
              <a:t>2011007-Hasan Al </a:t>
            </a:r>
            <a:r>
              <a:rPr lang="en-US" dirty="0" err="1" smtClean="0"/>
              <a:t>Banna</a:t>
            </a:r>
            <a:endParaRPr lang="en-US" dirty="0" smtClean="0"/>
          </a:p>
          <a:p>
            <a:r>
              <a:rPr lang="en-US" dirty="0" smtClean="0"/>
              <a:t>2011008-Mishal Islam </a:t>
            </a:r>
            <a:r>
              <a:rPr lang="en-US" dirty="0" err="1" smtClean="0"/>
              <a:t>Shely</a:t>
            </a:r>
            <a:endParaRPr lang="en-US" dirty="0" smtClean="0"/>
          </a:p>
          <a:p>
            <a:r>
              <a:rPr lang="en-US" dirty="0" smtClean="0"/>
              <a:t>2011009-Piyal </a:t>
            </a:r>
            <a:r>
              <a:rPr lang="en-US" dirty="0" err="1" smtClean="0"/>
              <a:t>Debnath</a:t>
            </a:r>
            <a:endParaRPr lang="en-US" dirty="0" smtClean="0"/>
          </a:p>
          <a:p>
            <a:r>
              <a:rPr lang="en-US" dirty="0" smtClean="0"/>
              <a:t>2011010-Joyita Talukder</a:t>
            </a:r>
          </a:p>
          <a:p>
            <a:r>
              <a:rPr lang="en-US" dirty="0" smtClean="0"/>
              <a:t>2011011-Pritom Majumder</a:t>
            </a:r>
          </a:p>
          <a:p>
            <a:r>
              <a:rPr lang="en-US" dirty="0" smtClean="0"/>
              <a:t>2011012-Swajun Majumder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699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173" y="85604"/>
            <a:ext cx="8333222" cy="1215566"/>
          </a:xfrm>
        </p:spPr>
        <p:txBody>
          <a:bodyPr>
            <a:normAutofit fontScale="90000"/>
          </a:bodyPr>
          <a:lstStyle/>
          <a:p>
            <a:r>
              <a:rPr lang="en-US" u="sng" dirty="0" smtClean="0"/>
              <a:t>To Delve </a:t>
            </a:r>
            <a:r>
              <a:rPr lang="en-US" u="sng" dirty="0"/>
              <a:t>D</a:t>
            </a:r>
            <a:r>
              <a:rPr lang="en-US" u="sng" dirty="0" smtClean="0"/>
              <a:t>eeper, Let's </a:t>
            </a:r>
            <a:r>
              <a:rPr lang="en-US" u="sng" dirty="0"/>
              <a:t>F</a:t>
            </a:r>
            <a:r>
              <a:rPr lang="en-US" u="sng" dirty="0" smtClean="0"/>
              <a:t>irst </a:t>
            </a:r>
            <a:r>
              <a:rPr lang="en-US" u="sng" dirty="0" smtClean="0"/>
              <a:t/>
            </a:r>
            <a:br>
              <a:rPr lang="en-US" u="sng" dirty="0" smtClean="0"/>
            </a:br>
            <a:r>
              <a:rPr lang="en-US" u="sng" dirty="0" smtClean="0"/>
              <a:t>Examine </a:t>
            </a:r>
            <a:r>
              <a:rPr lang="en-US" u="sng" dirty="0"/>
              <a:t>T</a:t>
            </a:r>
            <a:r>
              <a:rPr lang="en-US" u="sng" dirty="0" smtClean="0"/>
              <a:t>hese </a:t>
            </a:r>
            <a:r>
              <a:rPr lang="en-US" u="sng" dirty="0"/>
              <a:t>A</a:t>
            </a:r>
            <a:r>
              <a:rPr lang="en-US" u="sng" dirty="0" smtClean="0"/>
              <a:t>spects.</a:t>
            </a:r>
            <a:endParaRPr lang="en-US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3</a:t>
            </a:fld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60238" y="1963685"/>
            <a:ext cx="70076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What is creep?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238" y="4323912"/>
            <a:ext cx="70076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How is it related to turbine blades?</a:t>
            </a:r>
            <a:endParaRPr lang="en-US" sz="2000" dirty="0" smtClean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094" y="1385904"/>
            <a:ext cx="2960226" cy="224818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094" y="3931733"/>
            <a:ext cx="3988710" cy="250710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055927" y="257695"/>
            <a:ext cx="831271" cy="4987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219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4</a:t>
            </a:fld>
            <a:endParaRPr lang="en-US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59496" y="5340687"/>
            <a:ext cx="102874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Examples of failures of </a:t>
            </a:r>
            <a:r>
              <a:rPr lang="en-US" sz="2400" dirty="0" smtClean="0"/>
              <a:t>Ni-based </a:t>
            </a:r>
            <a:r>
              <a:rPr lang="en-US" sz="2400" dirty="0" err="1" smtClean="0"/>
              <a:t>superalloy</a:t>
            </a:r>
            <a:r>
              <a:rPr lang="en-US" sz="2400" dirty="0" smtClean="0"/>
              <a:t> </a:t>
            </a:r>
            <a:r>
              <a:rPr lang="en-US" sz="2400" dirty="0"/>
              <a:t>turbine blades. </a:t>
            </a:r>
            <a:r>
              <a:rPr lang="en-US" sz="2400" dirty="0" smtClean="0"/>
              <a:t>Such as aero-engine </a:t>
            </a:r>
            <a:r>
              <a:rPr lang="en-US" sz="2400" dirty="0"/>
              <a:t>turbines, Nozzle guide vanes, </a:t>
            </a:r>
            <a:r>
              <a:rPr lang="en-US" sz="2400" dirty="0" smtClean="0"/>
              <a:t>Combustors.</a:t>
            </a:r>
            <a:endParaRPr lang="en-US" sz="2400" dirty="0" smtClean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1630" y="756458"/>
            <a:ext cx="4763263" cy="452731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055927" y="257695"/>
            <a:ext cx="831271" cy="4987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213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5</a:t>
            </a:fld>
            <a:endParaRPr lang="en-US" noProof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67" y="1060437"/>
            <a:ext cx="7510242" cy="49717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47709" y="3150524"/>
            <a:ext cx="44223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One of the examples</a:t>
            </a:r>
          </a:p>
          <a:p>
            <a:r>
              <a:rPr lang="en-US" sz="2000" dirty="0" smtClean="0"/>
              <a:t>of aero-engine turbine </a:t>
            </a:r>
          </a:p>
          <a:p>
            <a:r>
              <a:rPr lang="en-US" sz="2000" dirty="0" smtClean="0"/>
              <a:t>failure Is </a:t>
            </a:r>
          </a:p>
          <a:p>
            <a:r>
              <a:rPr lang="en-US" sz="2000" b="1" dirty="0" smtClean="0"/>
              <a:t>LOT Polish Airlines Flight 5055 (1987)</a:t>
            </a:r>
            <a:r>
              <a:rPr lang="en-US" sz="2000" dirty="0" smtClean="0"/>
              <a:t> </a:t>
            </a:r>
            <a:endParaRPr lang="en-US" sz="2000" dirty="0"/>
          </a:p>
        </p:txBody>
      </p:sp>
      <p:sp>
        <p:nvSpPr>
          <p:cNvPr id="7" name="Rectangle 6"/>
          <p:cNvSpPr/>
          <p:nvPr/>
        </p:nvSpPr>
        <p:spPr>
          <a:xfrm>
            <a:off x="11064240" y="232756"/>
            <a:ext cx="931025" cy="5153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74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6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0225" y="282633"/>
            <a:ext cx="8333222" cy="1147969"/>
          </a:xfrm>
        </p:spPr>
        <p:txBody>
          <a:bodyPr>
            <a:normAutofit fontScale="90000"/>
          </a:bodyPr>
          <a:lstStyle/>
          <a:p>
            <a:r>
              <a:rPr lang="en-US" u="sng" dirty="0" smtClean="0"/>
              <a:t>Relation of Turbine Blades and</a:t>
            </a:r>
            <a:br>
              <a:rPr lang="en-US" u="sng" dirty="0" smtClean="0"/>
            </a:br>
            <a:r>
              <a:rPr lang="en-US" u="sng" dirty="0" err="1" smtClean="0"/>
              <a:t>Superalloy</a:t>
            </a:r>
            <a:endParaRPr lang="en-US" u="sng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11" y="2082402"/>
            <a:ext cx="7022091" cy="3229430"/>
          </a:xfrm>
        </p:spPr>
      </p:pic>
      <p:sp>
        <p:nvSpPr>
          <p:cNvPr id="5" name="Rectangle 4"/>
          <p:cNvSpPr/>
          <p:nvPr/>
        </p:nvSpPr>
        <p:spPr>
          <a:xfrm>
            <a:off x="11072553" y="282633"/>
            <a:ext cx="814645" cy="4904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687734" y="3043382"/>
            <a:ext cx="39708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Air faces pressure while </a:t>
            </a:r>
            <a:r>
              <a:rPr lang="en-US" dirty="0"/>
              <a:t>passing through the compressor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Due to fuel supply in combustor turbine blades go through heating process.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After certain time, creep develops in turbine blades.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718262" y="5778966"/>
            <a:ext cx="225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smtClean="0"/>
              <a:t>Figure: Turbine blade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942535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7</a:t>
            </a:fld>
            <a:endParaRPr lang="en-US" noProof="0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410" y="654550"/>
            <a:ext cx="9572389" cy="5948391"/>
          </a:xfrm>
        </p:spPr>
      </p:pic>
      <p:sp>
        <p:nvSpPr>
          <p:cNvPr id="5" name="Rectangle 4"/>
          <p:cNvSpPr/>
          <p:nvPr/>
        </p:nvSpPr>
        <p:spPr>
          <a:xfrm>
            <a:off x="11072553" y="282633"/>
            <a:ext cx="814645" cy="4904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413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8</a:t>
            </a:fld>
            <a:endParaRPr lang="en-US" noProof="0" dirty="0"/>
          </a:p>
        </p:txBody>
      </p:sp>
      <p:sp>
        <p:nvSpPr>
          <p:cNvPr id="4" name="Title 3"/>
          <p:cNvSpPr txBox="1">
            <a:spLocks/>
          </p:cNvSpPr>
          <p:nvPr/>
        </p:nvSpPr>
        <p:spPr>
          <a:xfrm>
            <a:off x="0" y="238065"/>
            <a:ext cx="8697192" cy="1147969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u="sng" dirty="0" smtClean="0"/>
              <a:t>Composition of K403 </a:t>
            </a:r>
            <a:r>
              <a:rPr lang="en-US" u="sng" dirty="0" err="1" smtClean="0"/>
              <a:t>Superalloy</a:t>
            </a:r>
            <a:endParaRPr lang="en-US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2492029" y="1496291"/>
            <a:ext cx="589551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/>
              <a:t>Elements</a:t>
            </a:r>
            <a:r>
              <a:rPr lang="en-US" sz="2400" dirty="0" smtClean="0"/>
              <a:t>			</a:t>
            </a:r>
            <a:r>
              <a:rPr lang="en-US" sz="2400" b="1" u="sng" dirty="0" smtClean="0"/>
              <a:t>Contents</a:t>
            </a:r>
          </a:p>
          <a:p>
            <a:r>
              <a:rPr lang="en-US" sz="2400" dirty="0" smtClean="0"/>
              <a:t>1)C				     14%</a:t>
            </a:r>
          </a:p>
          <a:p>
            <a:r>
              <a:rPr lang="en-US" sz="2400" dirty="0" smtClean="0"/>
              <a:t>2)Cr				     11.32%</a:t>
            </a:r>
          </a:p>
          <a:p>
            <a:r>
              <a:rPr lang="en-US" sz="2400" dirty="0" smtClean="0"/>
              <a:t>3)Co				      5.41%</a:t>
            </a:r>
          </a:p>
          <a:p>
            <a:r>
              <a:rPr lang="en-US" sz="2400" dirty="0" smtClean="0"/>
              <a:t>4)W				      5.17%</a:t>
            </a:r>
          </a:p>
          <a:p>
            <a:r>
              <a:rPr lang="en-US" sz="2400" dirty="0" smtClean="0"/>
              <a:t>5)Mo				      4.24%</a:t>
            </a:r>
          </a:p>
          <a:p>
            <a:r>
              <a:rPr lang="en-US" sz="2400" dirty="0" smtClean="0"/>
              <a:t>6)Al				      5.32%</a:t>
            </a:r>
          </a:p>
          <a:p>
            <a:r>
              <a:rPr lang="en-US" sz="2400" dirty="0" smtClean="0"/>
              <a:t>7)</a:t>
            </a:r>
            <a:r>
              <a:rPr lang="en-US" sz="2400" dirty="0" err="1" smtClean="0"/>
              <a:t>Ti</a:t>
            </a:r>
            <a:r>
              <a:rPr lang="en-US" sz="2400" dirty="0" smtClean="0"/>
              <a:t>				      2.61%</a:t>
            </a:r>
          </a:p>
          <a:p>
            <a:r>
              <a:rPr lang="en-US" sz="2400" dirty="0" smtClean="0"/>
              <a:t>8)Fe				     ≤1.0%</a:t>
            </a:r>
          </a:p>
          <a:p>
            <a:r>
              <a:rPr lang="en-US" sz="2400" dirty="0" smtClean="0"/>
              <a:t>9)B				      0.017%</a:t>
            </a:r>
          </a:p>
          <a:p>
            <a:r>
              <a:rPr lang="en-US" sz="2400" dirty="0" smtClean="0"/>
              <a:t>10)</a:t>
            </a:r>
            <a:r>
              <a:rPr lang="en-US" sz="2400" dirty="0" err="1" smtClean="0"/>
              <a:t>Zr</a:t>
            </a:r>
            <a:r>
              <a:rPr lang="en-US" sz="2400" dirty="0" smtClean="0"/>
              <a:t>				      0.6%</a:t>
            </a:r>
          </a:p>
          <a:p>
            <a:r>
              <a:rPr lang="en-US" sz="2400" dirty="0" smtClean="0"/>
              <a:t>11)Ni				     Balance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2492029" y="5577840"/>
            <a:ext cx="5263746" cy="332509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492029" y="3758448"/>
            <a:ext cx="5263746" cy="690389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1055927" y="287253"/>
            <a:ext cx="831271" cy="4941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196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9</a:t>
            </a:fld>
            <a:endParaRPr lang="en-US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656704" y="906087"/>
            <a:ext cx="62511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 smtClean="0">
                <a:latin typeface="+mj-lt"/>
                <a:cs typeface="Times New Roman" panose="02020603050405020304" pitchFamily="18" charset="0"/>
              </a:rPr>
              <a:t>In our case study we will explain:-</a:t>
            </a:r>
            <a:endParaRPr lang="en-US" sz="3200" b="1" u="sng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6704" y="1970116"/>
            <a:ext cx="857873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pitchFamily="18" charset="0"/>
              </a:rPr>
              <a:t>Qualitative and quantitative investigations are conducted to demonstrate the differences in the metal grains of failed turbine blades compared to others.</a:t>
            </a:r>
            <a:endParaRPr lang="en-US" sz="2400" dirty="0" smtClean="0"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 smtClean="0"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cs typeface="Times New Roman" panose="02020603050405020304" pitchFamily="18" charset="0"/>
              </a:rPr>
              <a:t>Understanding </a:t>
            </a:r>
            <a:r>
              <a:rPr lang="en-US" sz="2400" dirty="0">
                <a:cs typeface="Times New Roman" panose="02020603050405020304" pitchFamily="18" charset="0"/>
              </a:rPr>
              <a:t>how tiny cavities migrate within the metal to accelerate creep </a:t>
            </a:r>
            <a:r>
              <a:rPr lang="en-US" sz="2400" dirty="0" smtClean="0">
                <a:cs typeface="Times New Roman" panose="02020603050405020304" pitchFamily="18" charset="0"/>
              </a:rPr>
              <a:t>failure.</a:t>
            </a:r>
            <a:endParaRPr lang="en-US" sz="2400" dirty="0"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 smtClean="0"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 smtClean="0"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cs typeface="Times New Roman" panose="02020603050405020304" pitchFamily="18" charset="0"/>
              </a:rPr>
              <a:t>The microstructural </a:t>
            </a:r>
            <a:r>
              <a:rPr lang="en-US" sz="2400" dirty="0">
                <a:cs typeface="Times New Roman" panose="02020603050405020304" pitchFamily="18" charset="0"/>
              </a:rPr>
              <a:t>analysis is employed to clarify that the failure occurred due to creep along the grain boundary.</a:t>
            </a:r>
          </a:p>
        </p:txBody>
      </p:sp>
      <p:sp>
        <p:nvSpPr>
          <p:cNvPr id="2" name="Rectangle 1"/>
          <p:cNvSpPr/>
          <p:nvPr/>
        </p:nvSpPr>
        <p:spPr>
          <a:xfrm>
            <a:off x="11146971" y="290945"/>
            <a:ext cx="648789" cy="473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330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10</a:t>
            </a:fld>
            <a:endParaRPr lang="en-US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38530" y="738417"/>
            <a:ext cx="84374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 smtClean="0">
                <a:latin typeface="+mj-lt"/>
                <a:cs typeface="Times New Roman" panose="02020603050405020304" pitchFamily="18" charset="0"/>
              </a:rPr>
              <a:t>2 specimens </a:t>
            </a:r>
            <a:r>
              <a:rPr lang="en-US" sz="3200" b="1" u="sng" dirty="0">
                <a:latin typeface="+mj-lt"/>
                <a:cs typeface="Times New Roman" panose="02020603050405020304" pitchFamily="18" charset="0"/>
              </a:rPr>
              <a:t>W</a:t>
            </a:r>
            <a:r>
              <a:rPr lang="en-US" sz="3200" b="1" u="sng" dirty="0" smtClean="0">
                <a:latin typeface="+mj-lt"/>
                <a:cs typeface="Times New Roman" panose="02020603050405020304" pitchFamily="18" charset="0"/>
              </a:rPr>
              <a:t>ere Taken from K403 </a:t>
            </a:r>
            <a:r>
              <a:rPr lang="en-US" sz="3200" b="1" u="sng" dirty="0" err="1">
                <a:latin typeface="+mj-lt"/>
                <a:cs typeface="Times New Roman" panose="02020603050405020304" pitchFamily="18" charset="0"/>
              </a:rPr>
              <a:t>S</a:t>
            </a:r>
            <a:r>
              <a:rPr lang="en-US" sz="3200" b="1" u="sng" dirty="0" err="1" smtClean="0">
                <a:latin typeface="+mj-lt"/>
                <a:cs typeface="Times New Roman" panose="02020603050405020304" pitchFamily="18" charset="0"/>
              </a:rPr>
              <a:t>uperalloy</a:t>
            </a:r>
            <a:endParaRPr lang="en-US" sz="3200" b="1" u="sng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40575" y="1463179"/>
            <a:ext cx="395915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A0(C/F) = 430MPa, 52sec, 780°C</a:t>
            </a:r>
          </a:p>
          <a:p>
            <a:endParaRPr lang="en-US" sz="2000" dirty="0"/>
          </a:p>
          <a:p>
            <a:r>
              <a:rPr lang="en-US" sz="2000" dirty="0" smtClean="0"/>
              <a:t>A2(C/F</a:t>
            </a:r>
            <a:r>
              <a:rPr lang="en-US" sz="2000" dirty="0"/>
              <a:t>) = </a:t>
            </a:r>
            <a:r>
              <a:rPr lang="en-US" sz="2000" dirty="0" smtClean="0"/>
              <a:t>704MPa</a:t>
            </a:r>
            <a:r>
              <a:rPr lang="en-US" sz="2000" dirty="0"/>
              <a:t>, </a:t>
            </a:r>
            <a:r>
              <a:rPr lang="en-US" sz="2000" dirty="0" smtClean="0"/>
              <a:t>141sec</a:t>
            </a:r>
            <a:r>
              <a:rPr lang="en-US" sz="2000" dirty="0"/>
              <a:t>, 780°C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30" y="3209351"/>
            <a:ext cx="6048375" cy="2867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223" y="1972683"/>
            <a:ext cx="5001530" cy="421735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40575" y="4256116"/>
            <a:ext cx="5320145" cy="3823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09848" y="5201837"/>
            <a:ext cx="5342312" cy="5505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1146971" y="324196"/>
            <a:ext cx="740227" cy="414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488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11</a:t>
            </a:fld>
            <a:endParaRPr lang="en-US" noProof="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29" y="832540"/>
            <a:ext cx="11274351" cy="55285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38529" y="183445"/>
            <a:ext cx="84374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 smtClean="0">
                <a:latin typeface="+mj-lt"/>
                <a:cs typeface="Times New Roman" panose="02020603050405020304" pitchFamily="18" charset="0"/>
              </a:rPr>
              <a:t>K403 </a:t>
            </a:r>
            <a:r>
              <a:rPr lang="en-US" sz="3200" b="1" u="sng" dirty="0" err="1">
                <a:latin typeface="+mj-lt"/>
                <a:cs typeface="Times New Roman" panose="02020603050405020304" pitchFamily="18" charset="0"/>
              </a:rPr>
              <a:t>S</a:t>
            </a:r>
            <a:r>
              <a:rPr lang="en-US" sz="3200" b="1" u="sng" dirty="0" err="1" smtClean="0">
                <a:latin typeface="+mj-lt"/>
                <a:cs typeface="Times New Roman" panose="02020603050405020304" pitchFamily="18" charset="0"/>
              </a:rPr>
              <a:t>uperalloy</a:t>
            </a:r>
            <a:r>
              <a:rPr lang="en-US" sz="3200" b="1" u="sng" dirty="0" smtClean="0">
                <a:latin typeface="+mj-lt"/>
                <a:cs typeface="Times New Roman" panose="02020603050405020304" pitchFamily="18" charset="0"/>
              </a:rPr>
              <a:t> at Normal </a:t>
            </a:r>
            <a:r>
              <a:rPr lang="en-US" sz="3200" b="1" u="sng" dirty="0">
                <a:latin typeface="+mj-lt"/>
                <a:cs typeface="Times New Roman" panose="02020603050405020304" pitchFamily="18" charset="0"/>
              </a:rPr>
              <a:t>C</a:t>
            </a:r>
            <a:r>
              <a:rPr lang="en-US" sz="3200" b="1" u="sng" dirty="0" smtClean="0">
                <a:latin typeface="+mj-lt"/>
                <a:cs typeface="Times New Roman" panose="02020603050405020304" pitchFamily="18" charset="0"/>
              </a:rPr>
              <a:t>onditions</a:t>
            </a:r>
            <a:endParaRPr lang="en-US" sz="3200" b="1" u="sng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146971" y="290945"/>
            <a:ext cx="740227" cy="4488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17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12</a:t>
            </a:fld>
            <a:endParaRPr lang="en-US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38530" y="339405"/>
            <a:ext cx="48236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 smtClean="0">
                <a:latin typeface="+mj-lt"/>
                <a:cs typeface="Times New Roman" panose="02020603050405020304" pitchFamily="18" charset="0"/>
              </a:rPr>
              <a:t>K403 </a:t>
            </a:r>
            <a:r>
              <a:rPr lang="en-US" sz="3200" b="1" u="sng" dirty="0" err="1">
                <a:latin typeface="+mj-lt"/>
                <a:cs typeface="Times New Roman" panose="02020603050405020304" pitchFamily="18" charset="0"/>
              </a:rPr>
              <a:t>S</a:t>
            </a:r>
            <a:r>
              <a:rPr lang="en-US" sz="3200" b="1" u="sng" dirty="0" err="1" smtClean="0">
                <a:latin typeface="+mj-lt"/>
                <a:cs typeface="Times New Roman" panose="02020603050405020304" pitchFamily="18" charset="0"/>
              </a:rPr>
              <a:t>uperalloy</a:t>
            </a:r>
            <a:r>
              <a:rPr lang="en-US" sz="3200" b="1" u="sng" dirty="0" smtClean="0">
                <a:latin typeface="+mj-lt"/>
                <a:cs typeface="Times New Roman" panose="02020603050405020304" pitchFamily="18" charset="0"/>
              </a:rPr>
              <a:t> at </a:t>
            </a:r>
            <a:r>
              <a:rPr lang="en-US" sz="3200" b="1" u="sng" dirty="0" smtClean="0">
                <a:latin typeface="+mj-lt"/>
                <a:cs typeface="Times New Roman" panose="02020603050405020304" pitchFamily="18" charset="0"/>
              </a:rPr>
              <a:t>A0(C/F)</a:t>
            </a:r>
            <a:endParaRPr lang="en-US" sz="3200" b="1" u="sng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146" y="1157571"/>
            <a:ext cx="10525776" cy="41537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26802" y="5833130"/>
            <a:ext cx="3306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Figure: A0(C/F)</a:t>
            </a:r>
            <a:endParaRPr lang="en-US" sz="2800" dirty="0"/>
          </a:p>
        </p:txBody>
      </p:sp>
      <p:sp>
        <p:nvSpPr>
          <p:cNvPr id="2" name="Rectangle 1"/>
          <p:cNvSpPr/>
          <p:nvPr/>
        </p:nvSpPr>
        <p:spPr>
          <a:xfrm>
            <a:off x="11072553" y="241069"/>
            <a:ext cx="939338" cy="5389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612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13</a:t>
            </a:fld>
            <a:endParaRPr lang="en-US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38530" y="339405"/>
            <a:ext cx="48236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 smtClean="0">
                <a:latin typeface="+mj-lt"/>
                <a:cs typeface="Times New Roman" panose="02020603050405020304" pitchFamily="18" charset="0"/>
              </a:rPr>
              <a:t>K403 </a:t>
            </a:r>
            <a:r>
              <a:rPr lang="en-US" sz="3200" b="1" u="sng" dirty="0" err="1">
                <a:latin typeface="+mj-lt"/>
                <a:cs typeface="Times New Roman" panose="02020603050405020304" pitchFamily="18" charset="0"/>
              </a:rPr>
              <a:t>S</a:t>
            </a:r>
            <a:r>
              <a:rPr lang="en-US" sz="3200" b="1" u="sng" dirty="0" err="1" smtClean="0">
                <a:latin typeface="+mj-lt"/>
                <a:cs typeface="Times New Roman" panose="02020603050405020304" pitchFamily="18" charset="0"/>
              </a:rPr>
              <a:t>uperalloy</a:t>
            </a:r>
            <a:r>
              <a:rPr lang="en-US" sz="3200" b="1" u="sng" dirty="0" smtClean="0">
                <a:latin typeface="+mj-lt"/>
                <a:cs typeface="Times New Roman" panose="02020603050405020304" pitchFamily="18" charset="0"/>
              </a:rPr>
              <a:t> at </a:t>
            </a:r>
            <a:r>
              <a:rPr lang="en-US" sz="3200" b="1" u="sng" dirty="0" smtClean="0">
                <a:latin typeface="+mj-lt"/>
                <a:cs typeface="Times New Roman" panose="02020603050405020304" pitchFamily="18" charset="0"/>
              </a:rPr>
              <a:t>A2(C/F)</a:t>
            </a:r>
            <a:endParaRPr lang="en-US" sz="3200" b="1" u="sng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30" y="1481117"/>
            <a:ext cx="11168169" cy="4013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30284" y="5833130"/>
            <a:ext cx="2784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Figure: A2(C/F)</a:t>
            </a:r>
            <a:endParaRPr lang="en-US" sz="2800" dirty="0"/>
          </a:p>
        </p:txBody>
      </p:sp>
      <p:sp>
        <p:nvSpPr>
          <p:cNvPr id="2" name="Rectangle 1"/>
          <p:cNvSpPr/>
          <p:nvPr/>
        </p:nvSpPr>
        <p:spPr>
          <a:xfrm>
            <a:off x="11072553" y="241069"/>
            <a:ext cx="939338" cy="5389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543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14</a:t>
            </a:fld>
            <a:endParaRPr lang="en-US" noProof="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30" y="1414943"/>
            <a:ext cx="11548668" cy="494140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1146971" y="274320"/>
            <a:ext cx="740227" cy="5070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28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298" y="194427"/>
            <a:ext cx="11526465" cy="771872"/>
          </a:xfrm>
        </p:spPr>
        <p:txBody>
          <a:bodyPr>
            <a:noAutofit/>
          </a:bodyPr>
          <a:lstStyle/>
          <a:p>
            <a:r>
              <a:rPr lang="en-US" sz="3200" u="sng" dirty="0"/>
              <a:t>Cross-sectional microstructural morphologies of fractured turbine blades.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127" y="966299"/>
            <a:ext cx="3204906" cy="544050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9069" y="966299"/>
            <a:ext cx="3133897" cy="5526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55290" y="6406801"/>
            <a:ext cx="1592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Figure: A0(C/F)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535240" y="6435107"/>
            <a:ext cx="1592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Figure: A2(C/F)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1770611" y="966299"/>
            <a:ext cx="16625" cy="535137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02298" y="1662546"/>
            <a:ext cx="1143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Dendrites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02298" y="3457320"/>
            <a:ext cx="1143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GBs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02298" y="5252094"/>
            <a:ext cx="1143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γ</a:t>
            </a:r>
            <a:r>
              <a:rPr lang="en-US" dirty="0" smtClean="0"/>
              <a:t>' phases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409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466" y="0"/>
            <a:ext cx="8057324" cy="1206300"/>
          </a:xfrm>
        </p:spPr>
        <p:txBody>
          <a:bodyPr>
            <a:normAutofit/>
          </a:bodyPr>
          <a:lstStyle/>
          <a:p>
            <a:r>
              <a:rPr lang="en-US" sz="3600" u="sng" dirty="0" smtClean="0"/>
              <a:t>Difference Between Completed </a:t>
            </a:r>
            <a:br>
              <a:rPr lang="en-US" sz="3600" u="sng" dirty="0" smtClean="0"/>
            </a:br>
            <a:r>
              <a:rPr lang="en-US" sz="3600" u="sng" dirty="0" smtClean="0"/>
              <a:t>Dendrites and Fragmented Dendrites</a:t>
            </a:r>
            <a:endParaRPr lang="en-US" sz="3600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16</a:t>
            </a:fld>
            <a:endParaRPr lang="en-US" noProof="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462072"/>
              </p:ext>
            </p:extLst>
          </p:nvPr>
        </p:nvGraphicFramePr>
        <p:xfrm>
          <a:off x="338530" y="1660852"/>
          <a:ext cx="10501266" cy="47054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633">
                  <a:extLst>
                    <a:ext uri="{9D8B030D-6E8A-4147-A177-3AD203B41FA5}">
                      <a16:colId xmlns:a16="http://schemas.microsoft.com/office/drawing/2014/main" val="371363034"/>
                    </a:ext>
                  </a:extLst>
                </a:gridCol>
                <a:gridCol w="5250633">
                  <a:extLst>
                    <a:ext uri="{9D8B030D-6E8A-4147-A177-3AD203B41FA5}">
                      <a16:colId xmlns:a16="http://schemas.microsoft.com/office/drawing/2014/main" val="1866055605"/>
                    </a:ext>
                  </a:extLst>
                </a:gridCol>
              </a:tblGrid>
              <a:tr h="773507">
                <a:tc>
                  <a:txBody>
                    <a:bodyPr/>
                    <a:lstStyle/>
                    <a:p>
                      <a:pPr algn="ctr"/>
                      <a:r>
                        <a:rPr lang="en-US" u="sng" dirty="0" smtClean="0"/>
                        <a:t>Completed</a:t>
                      </a:r>
                      <a:r>
                        <a:rPr lang="en-US" u="sng" baseline="0" dirty="0" smtClean="0"/>
                        <a:t> Dendrites </a:t>
                      </a:r>
                      <a:endParaRPr 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 smtClean="0"/>
                        <a:t>Fragmented dendrites</a:t>
                      </a:r>
                      <a:endParaRPr lang="en-US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684818"/>
                  </a:ext>
                </a:extLst>
              </a:tr>
              <a:tr h="773507"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These exhibit </a:t>
                      </a:r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well-defined, continuous structure with smooth branches and well-developed secondary arms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They solidify completely, leaving no remaining liquid pockets within the structure.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These exhibit </a:t>
                      </a:r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discontinuous, broken branches and incomplete solidification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often with remaining liquid pockets trapped within the structure.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157214"/>
                  </a:ext>
                </a:extLst>
              </a:tr>
              <a:tr h="882419"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Completed dendrites often offer </a:t>
                      </a:r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better strength and ductility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due to the absence of internal voids or weaknesses.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presence of </a:t>
                      </a:r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internal voids and weaknesses 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compromise the material's overall strength and ductility.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689819"/>
                  </a:ext>
                </a:extLst>
              </a:tr>
              <a:tr h="773507"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continuous structure promotes </a:t>
                      </a:r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higher fracture toughness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meaning the material can resist crack propagation more effectively.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Fragmented structures can be more susceptible to crack initiation and propagation, leading to </a:t>
                      </a:r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lower fracture toughness.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527656"/>
                  </a:ext>
                </a:extLst>
              </a:tr>
              <a:tr h="773507"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Their smooth morphology can </a:t>
                      </a:r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improve machinability 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compared to fragmented structures.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Trapped liquid pockets can solidify as voids, </a:t>
                      </a:r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creating porosity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that further weakens the material and potentially compromises its performance.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032984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1146971" y="241069"/>
            <a:ext cx="673727" cy="5403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7302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smtClean="0"/>
              <a:t>Add a footer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17</a:t>
            </a:fld>
            <a:endParaRPr lang="en-US" noProof="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86719" y="0"/>
            <a:ext cx="8333222" cy="1215566"/>
          </a:xfrm>
          <a:prstGeom prst="rect">
            <a:avLst/>
          </a:prstGeom>
        </p:spPr>
        <p:txBody>
          <a:bodyPr vert="horz" lIns="91440" tIns="45720" rIns="91440" bIns="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u="sng" dirty="0" smtClean="0"/>
              <a:t>Difference Between Blocky Carbides </a:t>
            </a:r>
            <a:endParaRPr lang="en-US" sz="3600" u="sng" dirty="0" smtClean="0"/>
          </a:p>
          <a:p>
            <a:r>
              <a:rPr lang="en-US" sz="3600" u="sng" dirty="0" smtClean="0"/>
              <a:t>and </a:t>
            </a:r>
            <a:r>
              <a:rPr lang="en-US" sz="3600" u="sng" dirty="0" smtClean="0"/>
              <a:t>Skeleton Carbides </a:t>
            </a:r>
            <a:endParaRPr lang="en-US" sz="3600" u="sng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220662"/>
              </p:ext>
            </p:extLst>
          </p:nvPr>
        </p:nvGraphicFramePr>
        <p:xfrm>
          <a:off x="286719" y="1469659"/>
          <a:ext cx="10501266" cy="51065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633">
                  <a:extLst>
                    <a:ext uri="{9D8B030D-6E8A-4147-A177-3AD203B41FA5}">
                      <a16:colId xmlns:a16="http://schemas.microsoft.com/office/drawing/2014/main" val="371363034"/>
                    </a:ext>
                  </a:extLst>
                </a:gridCol>
                <a:gridCol w="5250633">
                  <a:extLst>
                    <a:ext uri="{9D8B030D-6E8A-4147-A177-3AD203B41FA5}">
                      <a16:colId xmlns:a16="http://schemas.microsoft.com/office/drawing/2014/main" val="1866055605"/>
                    </a:ext>
                  </a:extLst>
                </a:gridCol>
              </a:tblGrid>
              <a:tr h="773507">
                <a:tc>
                  <a:txBody>
                    <a:bodyPr/>
                    <a:lstStyle/>
                    <a:p>
                      <a:pPr algn="ctr"/>
                      <a:r>
                        <a:rPr lang="en-US" u="sng" dirty="0" smtClean="0"/>
                        <a:t>Blocky Carbides</a:t>
                      </a:r>
                      <a:endParaRPr 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 smtClean="0"/>
                        <a:t>Skeleton</a:t>
                      </a:r>
                      <a:r>
                        <a:rPr lang="en-US" u="sng" baseline="0" dirty="0" smtClean="0"/>
                        <a:t> Carbides</a:t>
                      </a:r>
                      <a:endParaRPr lang="en-US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684818"/>
                  </a:ext>
                </a:extLst>
              </a:tr>
              <a:tr h="773507"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These are compact, well-defined individual particles with a roughly 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equiaxed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or blocky shape.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These form a network of interconnected, branched structures, resembling a skeleton. They can be continuous or discontinuous depending on the specific type and processing conditions.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157214"/>
                  </a:ext>
                </a:extLst>
              </a:tr>
              <a:tr h="682914"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 hardness and wear resistance</a:t>
                      </a:r>
                      <a:endParaRPr 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High-temperature strength</a:t>
                      </a:r>
                      <a:endParaRPr 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689819"/>
                  </a:ext>
                </a:extLst>
              </a:tr>
              <a:tr h="773507"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Improve strength 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 </a:t>
                      </a:r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reduce toughness</a:t>
                      </a:r>
                      <a:endParaRPr 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Oxidation resistance</a:t>
                      </a:r>
                      <a:endParaRPr 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527656"/>
                  </a:ext>
                </a:extLst>
              </a:tr>
              <a:tr h="773507"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They can significantly </a:t>
                      </a:r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decrease machinability 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due to their hardness.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Their network structure can slightly </a:t>
                      </a:r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improve machinability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compared to blocky carbides.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032984"/>
                  </a:ext>
                </a:extLst>
              </a:tr>
              <a:tr h="773507"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Used in wear-resistant components like </a:t>
                      </a:r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cutting tools, bearings, and gears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due to their excellent hardness and wear resistance.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Used in high-temperature components like </a:t>
                      </a:r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turbine blades and discs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due to their improved high-temperature strength and oxidation resistance.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19599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11146971" y="274320"/>
            <a:ext cx="665414" cy="4987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370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18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0613" y="45720"/>
            <a:ext cx="8333222" cy="523702"/>
          </a:xfrm>
        </p:spPr>
        <p:txBody>
          <a:bodyPr>
            <a:normAutofit fontScale="90000"/>
          </a:bodyPr>
          <a:lstStyle/>
          <a:p>
            <a:r>
              <a:rPr lang="en-US" u="sng" dirty="0" smtClean="0"/>
              <a:t>Propagation of Creep Voids</a:t>
            </a:r>
            <a:endParaRPr lang="en-US" u="sng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55" y="761018"/>
            <a:ext cx="10523516" cy="5960457"/>
          </a:xfrm>
        </p:spPr>
      </p:pic>
      <p:sp>
        <p:nvSpPr>
          <p:cNvPr id="2" name="Rectangle 1"/>
          <p:cNvSpPr/>
          <p:nvPr/>
        </p:nvSpPr>
        <p:spPr>
          <a:xfrm>
            <a:off x="11072553" y="307571"/>
            <a:ext cx="814645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508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19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76867" y="436402"/>
            <a:ext cx="8333222" cy="656738"/>
          </a:xfrm>
        </p:spPr>
        <p:txBody>
          <a:bodyPr>
            <a:normAutofit fontScale="90000"/>
          </a:bodyPr>
          <a:lstStyle/>
          <a:p>
            <a:r>
              <a:rPr lang="en-US" u="sng" dirty="0" smtClean="0"/>
              <a:t>Propagation of Creep Voids </a:t>
            </a:r>
            <a:r>
              <a:rPr lang="en-US" u="sng" dirty="0" smtClean="0"/>
              <a:t/>
            </a:r>
            <a:br>
              <a:rPr lang="en-US" u="sng" dirty="0" smtClean="0"/>
            </a:br>
            <a:r>
              <a:rPr lang="en-US" u="sng" dirty="0" smtClean="0"/>
              <a:t>Cont</a:t>
            </a:r>
            <a:r>
              <a:rPr lang="en-US" u="sng" dirty="0" smtClean="0"/>
              <a:t>.</a:t>
            </a:r>
            <a:endParaRPr lang="en-US" u="sng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799" y="1093140"/>
            <a:ext cx="9606517" cy="5764860"/>
          </a:xfrm>
        </p:spPr>
      </p:pic>
      <p:sp>
        <p:nvSpPr>
          <p:cNvPr id="2" name="Rectangle 1"/>
          <p:cNvSpPr/>
          <p:nvPr/>
        </p:nvSpPr>
        <p:spPr>
          <a:xfrm>
            <a:off x="11064240" y="299258"/>
            <a:ext cx="906087" cy="4655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801389" y="3516284"/>
            <a:ext cx="3233651" cy="25270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838902" y="1213658"/>
            <a:ext cx="2826327" cy="31422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856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530" y="174566"/>
            <a:ext cx="8333222" cy="676449"/>
          </a:xfrm>
        </p:spPr>
        <p:txBody>
          <a:bodyPr/>
          <a:lstStyle/>
          <a:p>
            <a:r>
              <a:rPr lang="en-US" u="sng" dirty="0" smtClean="0"/>
              <a:t>In Summary</a:t>
            </a:r>
            <a:endParaRPr lang="en-US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20</a:t>
            </a:fld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338530" y="955964"/>
            <a:ext cx="1537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smtClean="0"/>
              <a:t>A0(C/F) case:</a:t>
            </a:r>
            <a:endParaRPr lang="en-US" u="sng" dirty="0"/>
          </a:p>
        </p:txBody>
      </p:sp>
      <p:sp>
        <p:nvSpPr>
          <p:cNvPr id="6" name="TextBox 5"/>
          <p:cNvSpPr txBox="1"/>
          <p:nvPr/>
        </p:nvSpPr>
        <p:spPr>
          <a:xfrm>
            <a:off x="665018" y="1430245"/>
            <a:ext cx="8006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Creep voids form mainly inside the grains and along original grain boundaries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38530" y="1858359"/>
            <a:ext cx="1537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smtClean="0"/>
              <a:t>A2(C/F) case:</a:t>
            </a:r>
            <a:endParaRPr lang="en-US" u="sng" dirty="0"/>
          </a:p>
        </p:txBody>
      </p:sp>
      <p:sp>
        <p:nvSpPr>
          <p:cNvPr id="8" name="TextBox 7"/>
          <p:cNvSpPr txBox="1"/>
          <p:nvPr/>
        </p:nvSpPr>
        <p:spPr>
          <a:xfrm>
            <a:off x="665017" y="2332640"/>
            <a:ext cx="98588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Large amounts of </a:t>
            </a:r>
            <a:r>
              <a:rPr lang="en-US" dirty="0" err="1"/>
              <a:t>intergranular</a:t>
            </a:r>
            <a:r>
              <a:rPr lang="en-US" dirty="0"/>
              <a:t> carbides precipitate, leading to complete fragmentation of dendrite structures and formation of new subgrains and boundaries. This results in the development of large </a:t>
            </a:r>
            <a:r>
              <a:rPr lang="en-US" dirty="0" err="1"/>
              <a:t>intergranular</a:t>
            </a:r>
            <a:r>
              <a:rPr lang="en-US" dirty="0"/>
              <a:t> pores and cracks concentrated along grain boundaries.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530" y="3442100"/>
            <a:ext cx="2036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Conclusion: </a:t>
            </a:r>
            <a:endParaRPr lang="en-US" b="1" u="sng" dirty="0"/>
          </a:p>
        </p:txBody>
      </p:sp>
      <p:sp>
        <p:nvSpPr>
          <p:cNvPr id="10" name="TextBox 9"/>
          <p:cNvSpPr txBox="1"/>
          <p:nvPr/>
        </p:nvSpPr>
        <p:spPr>
          <a:xfrm>
            <a:off x="665016" y="3882830"/>
            <a:ext cx="98588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Creep damage is caused by elemental diffusion at high temperatures, leading to </a:t>
            </a:r>
            <a:r>
              <a:rPr lang="en-US" dirty="0" err="1"/>
              <a:t>intergranular</a:t>
            </a:r>
            <a:r>
              <a:rPr lang="en-US" dirty="0"/>
              <a:t> void 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increasing load, the dominant damage shifts from creep and fatigue damages to creep-dominated damage assisted by oxidation.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failure mode transforms from a mixed mode of transgranular and </a:t>
            </a:r>
            <a:r>
              <a:rPr lang="en-US" dirty="0" err="1"/>
              <a:t>intergranular</a:t>
            </a:r>
            <a:r>
              <a:rPr lang="en-US" dirty="0"/>
              <a:t> to primarily </a:t>
            </a:r>
            <a:r>
              <a:rPr lang="en-US" dirty="0" err="1"/>
              <a:t>intergranular</a:t>
            </a:r>
            <a:r>
              <a:rPr lang="en-US" dirty="0"/>
              <a:t> mode.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1072553" y="282633"/>
            <a:ext cx="889462" cy="473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4079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21</a:t>
            </a:fld>
            <a:endParaRPr lang="en-US" noProof="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548" y="581891"/>
            <a:ext cx="8188773" cy="537796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078182" y="665652"/>
            <a:ext cx="2668385" cy="47043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315936" y="581891"/>
            <a:ext cx="2668385" cy="47881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1146971" y="299258"/>
            <a:ext cx="740227" cy="4655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8420793" y="5120640"/>
            <a:ext cx="606829" cy="1828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353412" y="5031468"/>
            <a:ext cx="593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A2</a:t>
            </a:r>
            <a:r>
              <a:rPr lang="en-US" sz="1050" dirty="0" smtClean="0"/>
              <a:t>C/F</a:t>
            </a:r>
            <a:endParaRPr lang="en-US" sz="1050" dirty="0"/>
          </a:p>
        </p:txBody>
      </p:sp>
      <p:sp>
        <p:nvSpPr>
          <p:cNvPr id="9" name="Rectangle 8"/>
          <p:cNvSpPr/>
          <p:nvPr/>
        </p:nvSpPr>
        <p:spPr>
          <a:xfrm>
            <a:off x="4829695" y="581891"/>
            <a:ext cx="2344189" cy="4314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079076" y="5120640"/>
            <a:ext cx="1862051" cy="4904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2163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/>
              <a:t>References</a:t>
            </a:r>
            <a:endParaRPr lang="en-US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22</a:t>
            </a:fld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18678" y="1628314"/>
            <a:ext cx="717388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www.researchgate.net/publication/272565986_Nickel_Base_Superalloys_used_for_Aero_Engine_Turbine_Blades</a:t>
            </a:r>
            <a:r>
              <a:rPr lang="en-US" dirty="0" smtClean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www.sciencedirect.com/science/article/pii/S0142112321004114</a:t>
            </a:r>
            <a:r>
              <a:rPr lang="en-US" dirty="0" smtClean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https://</a:t>
            </a:r>
            <a:r>
              <a:rPr lang="en-US" dirty="0" smtClean="0">
                <a:hlinkClick r:id="rId4"/>
              </a:rPr>
              <a:t>www.sciencedirect.com/science/article/abs/pii/B9780128035818025741</a:t>
            </a:r>
            <a:r>
              <a:rPr lang="en-US" dirty="0" smtClean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5"/>
              </a:rPr>
              <a:t>https://</a:t>
            </a:r>
            <a:r>
              <a:rPr lang="en-US" dirty="0" smtClean="0">
                <a:hlinkClick r:id="rId5"/>
              </a:rPr>
              <a:t>www.youtube.com/watch?v=k6m5iJOk24o&amp;list=PPSV</a:t>
            </a:r>
            <a:r>
              <a:rPr lang="en-US" dirty="0" smtClean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6"/>
              </a:rPr>
              <a:t>https://</a:t>
            </a:r>
            <a:r>
              <a:rPr lang="en-US" dirty="0" smtClean="0">
                <a:hlinkClick r:id="rId6"/>
              </a:rPr>
              <a:t>www.youtube.com/watch?v=1zHSK-Nlaz0&amp;list=PPSV</a:t>
            </a:r>
            <a:r>
              <a:rPr lang="en-US" dirty="0" smtClean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7"/>
              </a:rPr>
              <a:t>https://</a:t>
            </a:r>
            <a:r>
              <a:rPr lang="en-US" dirty="0" smtClean="0">
                <a:hlinkClick r:id="rId7"/>
              </a:rPr>
              <a:t>www.youtube.com/watch?v=OhB9i-kdlwI&amp;list=PPSV</a:t>
            </a:r>
            <a:r>
              <a:rPr lang="en-US" dirty="0" smtClean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8"/>
              </a:rPr>
              <a:t>https://</a:t>
            </a:r>
            <a:r>
              <a:rPr lang="en-US" dirty="0" smtClean="0">
                <a:hlinkClick r:id="rId8"/>
              </a:rPr>
              <a:t>www.youtube.com/watch?v=1tM96B77n0U&amp;list=PPSV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1064240" y="209028"/>
            <a:ext cx="955964" cy="57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9807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99670" y="3549533"/>
            <a:ext cx="4853573" cy="677449"/>
          </a:xfrm>
        </p:spPr>
        <p:txBody>
          <a:bodyPr>
            <a:noAutofit/>
          </a:bodyPr>
          <a:lstStyle/>
          <a:p>
            <a:r>
              <a:rPr lang="en-US" sz="6600" dirty="0" smtClean="0"/>
              <a:t>Thank you</a:t>
            </a:r>
            <a:endParaRPr lang="en-US" sz="6600" dirty="0"/>
          </a:p>
        </p:txBody>
      </p:sp>
      <p:pic>
        <p:nvPicPr>
          <p:cNvPr id="9" name="Picture Placeholder 8"/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45" b="17345"/>
          <a:stretch>
            <a:fillRect/>
          </a:stretch>
        </p:blipFill>
        <p:spPr/>
      </p:pic>
      <p:sp>
        <p:nvSpPr>
          <p:cNvPr id="8" name="Title 1"/>
          <p:cNvSpPr txBox="1">
            <a:spLocks/>
          </p:cNvSpPr>
          <p:nvPr/>
        </p:nvSpPr>
        <p:spPr>
          <a:xfrm>
            <a:off x="6799670" y="4434799"/>
            <a:ext cx="4256257" cy="295143"/>
          </a:xfrm>
          <a:prstGeom prst="rect">
            <a:avLst/>
          </a:prstGeom>
        </p:spPr>
        <p:txBody>
          <a:bodyPr vert="horz" lIns="91440" tIns="45720" rIns="91440" bIns="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3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 smtClean="0"/>
              <a:t>Any questions?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6350924" y="3341716"/>
            <a:ext cx="448746" cy="16625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86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951641_Hexagon presentation light_AAS_v4" id="{358289A0-A26B-433F-AD2B-1F8832C96153}" vid="{92CDC91D-95BF-4897-87D6-494563DF797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87F4215-C6BB-44A3-9A5E-9446E6835900}">
  <ds:schemaRefs>
    <ds:schemaRef ds:uri="http://purl.org/dc/dcmitype/"/>
    <ds:schemaRef ds:uri="16c05727-aa75-4e4a-9b5f-8a80a1165891"/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71af3243-3dd4-4a8d-8c0d-dd76da1f02a5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8F8919DE-9BD9-47A9-9F5D-16EBB96879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80A5AF1-8C57-4290-936E-5FD27C95725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0</TotalTime>
  <Words>748</Words>
  <Application>Microsoft Office PowerPoint</Application>
  <PresentationFormat>Widescreen</PresentationFormat>
  <Paragraphs>139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Arial Black</vt:lpstr>
      <vt:lpstr>Calibri</vt:lpstr>
      <vt:lpstr>Calibri Light</vt:lpstr>
      <vt:lpstr>CiscoSans ExtraLight</vt:lpstr>
      <vt:lpstr>Gill Sans SemiBold</vt:lpstr>
      <vt:lpstr>Times New Roman</vt:lpstr>
      <vt:lpstr>Office Theme</vt:lpstr>
      <vt:lpstr>PowerPoint Presentation</vt:lpstr>
      <vt:lpstr>Creep Failure of Ni-Based Superalloy (K403)</vt:lpstr>
      <vt:lpstr>To Delve Deeper, Let's First  Examine These Aspects.</vt:lpstr>
      <vt:lpstr>PowerPoint Presentation</vt:lpstr>
      <vt:lpstr>PowerPoint Presentation</vt:lpstr>
      <vt:lpstr>Relation of Turbine Blades and Superalloy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Cross-sectional microstructural morphologies of fractured turbine blades.</vt:lpstr>
      <vt:lpstr>Difference Between Completed  Dendrites and Fragmented Dendrites</vt:lpstr>
      <vt:lpstr>PowerPoint Presentation</vt:lpstr>
      <vt:lpstr>Propagation of Creep Voids</vt:lpstr>
      <vt:lpstr>Propagation of Creep Voids  Cont.</vt:lpstr>
      <vt:lpstr>In Summary</vt:lpstr>
      <vt:lpstr>PowerPoint Presentation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2024-02-22T03:41:08Z</dcterms:created>
  <dcterms:modified xsi:type="dcterms:W3CDTF">2024-02-27T06:47:26Z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