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7"/>
  </p:notesMasterIdLst>
  <p:sldIdLst>
    <p:sldId id="256" r:id="rId2"/>
    <p:sldId id="280" r:id="rId3"/>
    <p:sldId id="257" r:id="rId4"/>
    <p:sldId id="258" r:id="rId5"/>
    <p:sldId id="265" r:id="rId6"/>
    <p:sldId id="266" r:id="rId7"/>
    <p:sldId id="259" r:id="rId8"/>
    <p:sldId id="262" r:id="rId9"/>
    <p:sldId id="263" r:id="rId10"/>
    <p:sldId id="264" r:id="rId11"/>
    <p:sldId id="267" r:id="rId12"/>
    <p:sldId id="268" r:id="rId13"/>
    <p:sldId id="270" r:id="rId14"/>
    <p:sldId id="271" r:id="rId15"/>
    <p:sldId id="272" r:id="rId16"/>
    <p:sldId id="260" r:id="rId17"/>
    <p:sldId id="261" r:id="rId18"/>
    <p:sldId id="269" r:id="rId19"/>
    <p:sldId id="273" r:id="rId20"/>
    <p:sldId id="274" r:id="rId21"/>
    <p:sldId id="275" r:id="rId22"/>
    <p:sldId id="276" r:id="rId23"/>
    <p:sldId id="277" r:id="rId24"/>
    <p:sldId id="278" r:id="rId25"/>
    <p:sldId id="279"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F424"/>
    <a:srgbClr val="C3D7BB"/>
    <a:srgbClr val="619A3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5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052908-9189-427A-8494-558D2D58F80C}" type="datetimeFigureOut">
              <a:rPr lang="en-US" smtClean="0"/>
              <a:t>6/23/2026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EF9FB4-3FA0-417C-9F38-AD3EDA05FB9F}" type="slidenum">
              <a:rPr lang="en-US" smtClean="0"/>
              <a:t>‹#›</a:t>
            </a:fld>
            <a:endParaRPr lang="en-US"/>
          </a:p>
        </p:txBody>
      </p:sp>
    </p:spTree>
    <p:extLst>
      <p:ext uri="{BB962C8B-B14F-4D97-AF65-F5344CB8AC3E}">
        <p14:creationId xmlns:p14="http://schemas.microsoft.com/office/powerpoint/2010/main" val="1703268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6/23/2026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6/23/2026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6/23/2026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6/23/2026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48494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6/23/2026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 id="2147483665" r:id="rId17"/>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7.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485505"/>
            <a:ext cx="8915399" cy="1552043"/>
          </a:xfrm>
        </p:spPr>
        <p:txBody>
          <a:bodyPr>
            <a:normAutofit/>
          </a:bodyPr>
          <a:lstStyle/>
          <a:p>
            <a:r>
              <a:rPr lang="en-US" sz="4400"/>
              <a:t>MILLSORPT-MILL SCALE TO METAL FREE </a:t>
            </a:r>
            <a:endParaRPr lang="en-US" sz="4400" dirty="0"/>
          </a:p>
        </p:txBody>
      </p:sp>
      <p:sp>
        <p:nvSpPr>
          <p:cNvPr id="3" name="Subtitle 2"/>
          <p:cNvSpPr>
            <a:spLocks noGrp="1"/>
          </p:cNvSpPr>
          <p:nvPr>
            <p:ph type="subTitle" idx="1"/>
          </p:nvPr>
        </p:nvSpPr>
        <p:spPr>
          <a:xfrm>
            <a:off x="2589213" y="6373423"/>
            <a:ext cx="2913812" cy="484577"/>
          </a:xfrm>
        </p:spPr>
        <p:txBody>
          <a:bodyPr/>
          <a:lstStyle/>
          <a:p>
            <a:r>
              <a:rPr lang="en-US" b="1" dirty="0"/>
              <a:t>Presented by group-02</a:t>
            </a:r>
          </a:p>
        </p:txBody>
      </p:sp>
      <p:sp>
        <p:nvSpPr>
          <p:cNvPr id="5" name="TextBox 4">
            <a:extLst>
              <a:ext uri="{FF2B5EF4-FFF2-40B4-BE49-F238E27FC236}">
                <a16:creationId xmlns:a16="http://schemas.microsoft.com/office/drawing/2014/main" id="{C416A5D1-48FB-67C1-C2E6-47C9F9EC86E5}"/>
              </a:ext>
            </a:extLst>
          </p:cNvPr>
          <p:cNvSpPr txBox="1"/>
          <p:nvPr/>
        </p:nvSpPr>
        <p:spPr>
          <a:xfrm>
            <a:off x="10502257" y="4701396"/>
            <a:ext cx="2610778" cy="2031325"/>
          </a:xfrm>
          <a:prstGeom prst="rect">
            <a:avLst/>
          </a:prstGeom>
          <a:noFill/>
        </p:spPr>
        <p:txBody>
          <a:bodyPr wrap="square" rtlCol="0">
            <a:spAutoFit/>
          </a:bodyPr>
          <a:lstStyle/>
          <a:p>
            <a:r>
              <a:rPr lang="en-US" b="1" dirty="0"/>
              <a:t>ID: </a:t>
            </a:r>
            <a:br>
              <a:rPr lang="en-US" b="1" dirty="0"/>
            </a:br>
            <a:r>
              <a:rPr lang="en-US" b="1" dirty="0"/>
              <a:t>2011007</a:t>
            </a:r>
          </a:p>
          <a:p>
            <a:r>
              <a:rPr lang="en-US" b="1" dirty="0"/>
              <a:t>2011008</a:t>
            </a:r>
          </a:p>
          <a:p>
            <a:r>
              <a:rPr lang="en-US" b="1" dirty="0"/>
              <a:t>2011009</a:t>
            </a:r>
          </a:p>
          <a:p>
            <a:r>
              <a:rPr lang="en-US" b="1" dirty="0"/>
              <a:t>2011010</a:t>
            </a:r>
          </a:p>
          <a:p>
            <a:r>
              <a:rPr lang="en-US" b="1" dirty="0"/>
              <a:t>2011011</a:t>
            </a:r>
          </a:p>
          <a:p>
            <a:r>
              <a:rPr lang="en-US" b="1" dirty="0"/>
              <a:t>2011012</a:t>
            </a:r>
          </a:p>
        </p:txBody>
      </p:sp>
    </p:spTree>
    <p:extLst>
      <p:ext uri="{BB962C8B-B14F-4D97-AF65-F5344CB8AC3E}">
        <p14:creationId xmlns:p14="http://schemas.microsoft.com/office/powerpoint/2010/main" val="34349278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411480"/>
            <a:ext cx="5486400" cy="731520"/>
          </a:xfrm>
          <a:prstGeom prst="rect">
            <a:avLst/>
          </a:prstGeom>
          <a:noFill/>
          <a:ln/>
        </p:spPr>
        <p:txBody>
          <a:bodyPr wrap="square" lIns="0" tIns="0" rIns="0" bIns="0" rtlCol="0" anchor="ctr"/>
          <a:lstStyle/>
          <a:p>
            <a:pPr marL="0" indent="0" algn="l">
              <a:buNone/>
            </a:pPr>
            <a:r>
              <a:rPr lang="en-US" sz="4000" b="1" dirty="0">
                <a:solidFill>
                  <a:srgbClr val="0E4F52"/>
                </a:solidFill>
                <a:latin typeface="Cambria" pitchFamily="34" charset="0"/>
                <a:ea typeface="Cambria" pitchFamily="34" charset="-122"/>
                <a:cs typeface="Cambria" pitchFamily="34" charset="-120"/>
              </a:rPr>
              <a:t>Introduction</a:t>
            </a:r>
            <a:endParaRPr lang="en-US" sz="4000" dirty="0"/>
          </a:p>
        </p:txBody>
      </p:sp>
      <p:sp>
        <p:nvSpPr>
          <p:cNvPr id="3" name="Shape 1"/>
          <p:cNvSpPr/>
          <p:nvPr/>
        </p:nvSpPr>
        <p:spPr>
          <a:xfrm>
            <a:off x="8275320" y="502920"/>
            <a:ext cx="3246120" cy="566928"/>
          </a:xfrm>
          <a:prstGeom prst="roundRect">
            <a:avLst>
              <a:gd name="adj" fmla="val 50000"/>
            </a:avLst>
          </a:prstGeom>
          <a:solidFill>
            <a:srgbClr val="0E4F52"/>
          </a:solidFill>
          <a:ln/>
          <a:effectLst>
            <a:outerShdw blurRad="101600" dist="38100" dir="5400000" algn="bl" rotWithShape="0">
              <a:srgbClr val="000000">
                <a:alpha val="18000"/>
              </a:srgbClr>
            </a:outerShdw>
          </a:effectLst>
        </p:spPr>
      </p:sp>
      <p:sp>
        <p:nvSpPr>
          <p:cNvPr id="4" name="Text 2"/>
          <p:cNvSpPr/>
          <p:nvPr/>
        </p:nvSpPr>
        <p:spPr>
          <a:xfrm>
            <a:off x="8275320" y="502920"/>
            <a:ext cx="3246120" cy="56692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TRIPLE  WASTE  TREATMENTS</a:t>
            </a:r>
            <a:endParaRPr lang="en-US" sz="1300" dirty="0"/>
          </a:p>
        </p:txBody>
      </p:sp>
      <p:sp>
        <p:nvSpPr>
          <p:cNvPr id="5" name="Text 3"/>
          <p:cNvSpPr/>
          <p:nvPr/>
        </p:nvSpPr>
        <p:spPr>
          <a:xfrm>
            <a:off x="640080" y="1325880"/>
            <a:ext cx="10881360" cy="1234440"/>
          </a:xfrm>
          <a:prstGeom prst="rect">
            <a:avLst/>
          </a:prstGeom>
          <a:noFill/>
          <a:ln/>
        </p:spPr>
        <p:txBody>
          <a:bodyPr wrap="square" lIns="0" tIns="0" rIns="0" bIns="0" rtlCol="0" anchor="ctr"/>
          <a:lstStyle/>
          <a:p>
            <a:pPr marL="0" indent="0" algn="l">
              <a:lnSpc>
                <a:spcPct val="112000"/>
              </a:lnSpc>
              <a:buNone/>
            </a:pPr>
            <a:r>
              <a:rPr lang="en-US" sz="1650" dirty="0">
                <a:solidFill>
                  <a:srgbClr val="4A5B5C"/>
                </a:solidFill>
                <a:latin typeface="Calibri" pitchFamily="34" charset="0"/>
                <a:ea typeface="Calibri" pitchFamily="34" charset="-122"/>
                <a:cs typeface="Calibri" pitchFamily="34" charset="-120"/>
              </a:rPr>
              <a:t>Industrial waste, such as ferrous mill scale from steel manufacturing, poses serious environmental challenges. Our capstone project converts this waste into effective adsorbents for purifying water contaminated with heavy metals. By combining materials science with sustainable engineering, we deliver a cost-effective, eco-friendly approach to water pollution.</a:t>
            </a:r>
            <a:endParaRPr lang="en-US" sz="1650" dirty="0"/>
          </a:p>
        </p:txBody>
      </p:sp>
      <p:sp>
        <p:nvSpPr>
          <p:cNvPr id="6" name="Shape 4"/>
          <p:cNvSpPr/>
          <p:nvPr/>
        </p:nvSpPr>
        <p:spPr>
          <a:xfrm>
            <a:off x="598932" y="2880360"/>
            <a:ext cx="3520440" cy="3246120"/>
          </a:xfrm>
          <a:prstGeom prst="roundRect">
            <a:avLst>
              <a:gd name="adj" fmla="val 3380"/>
            </a:avLst>
          </a:prstGeom>
          <a:solidFill>
            <a:srgbClr val="FFFFFF"/>
          </a:solidFill>
          <a:ln/>
          <a:effectLst>
            <a:outerShdw blurRad="101600" dist="38100" dir="5400000" algn="bl" rotWithShape="0">
              <a:srgbClr val="000000">
                <a:alpha val="14000"/>
              </a:srgbClr>
            </a:outerShdw>
          </a:effectLst>
        </p:spPr>
      </p:sp>
      <p:sp>
        <p:nvSpPr>
          <p:cNvPr id="7" name="Text 5"/>
          <p:cNvSpPr/>
          <p:nvPr/>
        </p:nvSpPr>
        <p:spPr>
          <a:xfrm>
            <a:off x="2747772" y="2926080"/>
            <a:ext cx="1280160" cy="1280160"/>
          </a:xfrm>
          <a:prstGeom prst="rect">
            <a:avLst/>
          </a:prstGeom>
          <a:noFill/>
          <a:ln/>
        </p:spPr>
        <p:txBody>
          <a:bodyPr wrap="square" lIns="0" tIns="0" rIns="0" bIns="0" rtlCol="0" anchor="t"/>
          <a:lstStyle/>
          <a:p>
            <a:pPr marL="0" indent="0" algn="r">
              <a:buNone/>
            </a:pPr>
            <a:r>
              <a:rPr lang="en-US" sz="8000" b="1" dirty="0">
                <a:solidFill>
                  <a:srgbClr val="16857C">
                    <a:alpha val="16000"/>
                  </a:srgbClr>
                </a:solidFill>
                <a:latin typeface="Cambria" pitchFamily="34" charset="0"/>
                <a:ea typeface="Cambria" pitchFamily="34" charset="-122"/>
                <a:cs typeface="Cambria" pitchFamily="34" charset="-120"/>
              </a:rPr>
              <a:t>1</a:t>
            </a:r>
            <a:endParaRPr lang="en-US" sz="8000" dirty="0"/>
          </a:p>
        </p:txBody>
      </p:sp>
      <p:sp>
        <p:nvSpPr>
          <p:cNvPr id="8" name="Shape 6"/>
          <p:cNvSpPr/>
          <p:nvPr/>
        </p:nvSpPr>
        <p:spPr>
          <a:xfrm>
            <a:off x="982980" y="3264408"/>
            <a:ext cx="868680" cy="868680"/>
          </a:xfrm>
          <a:prstGeom prst="ellipse">
            <a:avLst/>
          </a:prstGeom>
          <a:solidFill>
            <a:srgbClr val="16857C"/>
          </a:solidFill>
          <a:ln/>
          <a:effectLst>
            <a:outerShdw blurRad="101600" dist="38100" dir="5400000" algn="bl" rotWithShape="0">
              <a:srgbClr val="000000">
                <a:alpha val="20000"/>
              </a:srgbClr>
            </a:outerShdw>
          </a:effectLst>
        </p:spPr>
      </p:sp>
      <p:pic>
        <p:nvPicPr>
          <p:cNvPr id="9" name="Image 0" descr="preencoded.png"/>
          <p:cNvPicPr>
            <a:picLocks noChangeAspect="1"/>
          </p:cNvPicPr>
          <p:nvPr/>
        </p:nvPicPr>
        <p:blipFill>
          <a:blip r:embed="rId3"/>
          <a:stretch>
            <a:fillRect/>
          </a:stretch>
        </p:blipFill>
        <p:spPr>
          <a:xfrm>
            <a:off x="1217524" y="3498952"/>
            <a:ext cx="399593" cy="399593"/>
          </a:xfrm>
          <a:prstGeom prst="rect">
            <a:avLst/>
          </a:prstGeom>
        </p:spPr>
      </p:pic>
      <p:sp>
        <p:nvSpPr>
          <p:cNvPr id="10" name="Text 7"/>
          <p:cNvSpPr/>
          <p:nvPr/>
        </p:nvSpPr>
        <p:spPr>
          <a:xfrm>
            <a:off x="982980" y="4361688"/>
            <a:ext cx="2752344" cy="777240"/>
          </a:xfrm>
          <a:prstGeom prst="rect">
            <a:avLst/>
          </a:prstGeom>
          <a:noFill/>
          <a:ln/>
        </p:spPr>
        <p:txBody>
          <a:bodyPr wrap="square" lIns="0" tIns="0" rIns="0" bIns="0" rtlCol="0" anchor="t"/>
          <a:lstStyle/>
          <a:p>
            <a:pPr marL="0" indent="0" algn="l">
              <a:lnSpc>
                <a:spcPct val="100000"/>
              </a:lnSpc>
              <a:buNone/>
            </a:pPr>
            <a:r>
              <a:rPr lang="en-US" sz="1850" b="1" dirty="0">
                <a:solidFill>
                  <a:srgbClr val="1B2A2B"/>
                </a:solidFill>
                <a:latin typeface="Cambria" pitchFamily="34" charset="0"/>
                <a:ea typeface="Cambria" pitchFamily="34" charset="-122"/>
                <a:cs typeface="Cambria" pitchFamily="34" charset="-120"/>
              </a:rPr>
              <a:t>Mill Scale to Adsorbent</a:t>
            </a:r>
            <a:endParaRPr lang="en-US" sz="1850" dirty="0"/>
          </a:p>
        </p:txBody>
      </p:sp>
      <p:sp>
        <p:nvSpPr>
          <p:cNvPr id="11" name="Text 8"/>
          <p:cNvSpPr/>
          <p:nvPr/>
        </p:nvSpPr>
        <p:spPr>
          <a:xfrm>
            <a:off x="982980" y="5093208"/>
            <a:ext cx="2752344" cy="914400"/>
          </a:xfrm>
          <a:prstGeom prst="rect">
            <a:avLst/>
          </a:prstGeom>
          <a:noFill/>
          <a:ln/>
        </p:spPr>
        <p:txBody>
          <a:bodyPr wrap="square" lIns="0" tIns="0" rIns="0" bIns="0" rtlCol="0" anchor="t"/>
          <a:lstStyle/>
          <a:p>
            <a:pPr marL="0" indent="0" algn="l">
              <a:lnSpc>
                <a:spcPct val="108000"/>
              </a:lnSpc>
              <a:buNone/>
            </a:pPr>
            <a:r>
              <a:rPr lang="en-US" sz="1350" dirty="0">
                <a:solidFill>
                  <a:srgbClr val="4A5B5C"/>
                </a:solidFill>
                <a:latin typeface="Calibri" pitchFamily="34" charset="0"/>
                <a:ea typeface="Calibri" pitchFamily="34" charset="-122"/>
                <a:cs typeface="Calibri" pitchFamily="34" charset="-120"/>
              </a:rPr>
              <a:t>Reclaimed ferrous mill scale is processed into a low-cost, high-capacity adsorbent material.</a:t>
            </a:r>
            <a:endParaRPr lang="en-US" sz="1350" dirty="0"/>
          </a:p>
        </p:txBody>
      </p:sp>
      <p:sp>
        <p:nvSpPr>
          <p:cNvPr id="12" name="Shape 9"/>
          <p:cNvSpPr/>
          <p:nvPr/>
        </p:nvSpPr>
        <p:spPr>
          <a:xfrm>
            <a:off x="4320540" y="2880360"/>
            <a:ext cx="3520440" cy="3246120"/>
          </a:xfrm>
          <a:prstGeom prst="roundRect">
            <a:avLst>
              <a:gd name="adj" fmla="val 3380"/>
            </a:avLst>
          </a:prstGeom>
          <a:solidFill>
            <a:srgbClr val="FFFFFF"/>
          </a:solidFill>
          <a:ln/>
          <a:effectLst>
            <a:outerShdw blurRad="101600" dist="38100" dir="5400000" algn="bl" rotWithShape="0">
              <a:srgbClr val="000000">
                <a:alpha val="14000"/>
              </a:srgbClr>
            </a:outerShdw>
          </a:effectLst>
        </p:spPr>
      </p:sp>
      <p:sp>
        <p:nvSpPr>
          <p:cNvPr id="13" name="Text 10"/>
          <p:cNvSpPr/>
          <p:nvPr/>
        </p:nvSpPr>
        <p:spPr>
          <a:xfrm>
            <a:off x="6469380" y="2926080"/>
            <a:ext cx="1280160" cy="1280160"/>
          </a:xfrm>
          <a:prstGeom prst="rect">
            <a:avLst/>
          </a:prstGeom>
          <a:noFill/>
          <a:ln/>
        </p:spPr>
        <p:txBody>
          <a:bodyPr wrap="square" lIns="0" tIns="0" rIns="0" bIns="0" rtlCol="0" anchor="t"/>
          <a:lstStyle/>
          <a:p>
            <a:pPr marL="0" indent="0" algn="r">
              <a:buNone/>
            </a:pPr>
            <a:r>
              <a:rPr lang="en-US" sz="8000" b="1" dirty="0">
                <a:solidFill>
                  <a:srgbClr val="1C7293">
                    <a:alpha val="16000"/>
                  </a:srgbClr>
                </a:solidFill>
                <a:latin typeface="Cambria" pitchFamily="34" charset="0"/>
                <a:ea typeface="Cambria" pitchFamily="34" charset="-122"/>
                <a:cs typeface="Cambria" pitchFamily="34" charset="-120"/>
              </a:rPr>
              <a:t>2</a:t>
            </a:r>
            <a:endParaRPr lang="en-US" sz="8000" dirty="0"/>
          </a:p>
        </p:txBody>
      </p:sp>
      <p:sp>
        <p:nvSpPr>
          <p:cNvPr id="14" name="Shape 11"/>
          <p:cNvSpPr/>
          <p:nvPr/>
        </p:nvSpPr>
        <p:spPr>
          <a:xfrm>
            <a:off x="4704588" y="3264408"/>
            <a:ext cx="868680" cy="868680"/>
          </a:xfrm>
          <a:prstGeom prst="ellipse">
            <a:avLst/>
          </a:prstGeom>
          <a:solidFill>
            <a:srgbClr val="1C7293"/>
          </a:solidFill>
          <a:ln/>
          <a:effectLst>
            <a:outerShdw blurRad="101600" dist="38100" dir="5400000" algn="bl" rotWithShape="0">
              <a:srgbClr val="000000">
                <a:alpha val="20000"/>
              </a:srgbClr>
            </a:outerShdw>
          </a:effectLst>
        </p:spPr>
      </p:sp>
      <p:pic>
        <p:nvPicPr>
          <p:cNvPr id="15" name="Image 1" descr="preencoded.png"/>
          <p:cNvPicPr>
            <a:picLocks noChangeAspect="1"/>
          </p:cNvPicPr>
          <p:nvPr/>
        </p:nvPicPr>
        <p:blipFill>
          <a:blip r:embed="rId4"/>
          <a:stretch>
            <a:fillRect/>
          </a:stretch>
        </p:blipFill>
        <p:spPr>
          <a:xfrm>
            <a:off x="4939132" y="3498952"/>
            <a:ext cx="399593" cy="399593"/>
          </a:xfrm>
          <a:prstGeom prst="rect">
            <a:avLst/>
          </a:prstGeom>
        </p:spPr>
      </p:pic>
      <p:sp>
        <p:nvSpPr>
          <p:cNvPr id="16" name="Text 12"/>
          <p:cNvSpPr/>
          <p:nvPr/>
        </p:nvSpPr>
        <p:spPr>
          <a:xfrm>
            <a:off x="4704588" y="4361688"/>
            <a:ext cx="2752344" cy="777240"/>
          </a:xfrm>
          <a:prstGeom prst="rect">
            <a:avLst/>
          </a:prstGeom>
          <a:noFill/>
          <a:ln/>
        </p:spPr>
        <p:txBody>
          <a:bodyPr wrap="square" lIns="0" tIns="0" rIns="0" bIns="0" rtlCol="0" anchor="t"/>
          <a:lstStyle/>
          <a:p>
            <a:pPr marL="0" indent="0" algn="l">
              <a:lnSpc>
                <a:spcPct val="100000"/>
              </a:lnSpc>
              <a:buNone/>
            </a:pPr>
            <a:r>
              <a:rPr lang="en-US" sz="1850" b="1" dirty="0">
                <a:solidFill>
                  <a:srgbClr val="1B2A2B"/>
                </a:solidFill>
                <a:latin typeface="Cambria" pitchFamily="34" charset="0"/>
                <a:ea typeface="Cambria" pitchFamily="34" charset="-122"/>
                <a:cs typeface="Cambria" pitchFamily="34" charset="-120"/>
              </a:rPr>
              <a:t>Purifying Contaminated Water</a:t>
            </a:r>
            <a:endParaRPr lang="en-US" sz="1850" dirty="0"/>
          </a:p>
        </p:txBody>
      </p:sp>
      <p:sp>
        <p:nvSpPr>
          <p:cNvPr id="17" name="Text 13"/>
          <p:cNvSpPr/>
          <p:nvPr/>
        </p:nvSpPr>
        <p:spPr>
          <a:xfrm>
            <a:off x="4704588" y="5093208"/>
            <a:ext cx="2752344" cy="914400"/>
          </a:xfrm>
          <a:prstGeom prst="rect">
            <a:avLst/>
          </a:prstGeom>
          <a:noFill/>
          <a:ln/>
        </p:spPr>
        <p:txBody>
          <a:bodyPr wrap="square" lIns="0" tIns="0" rIns="0" bIns="0" rtlCol="0" anchor="t"/>
          <a:lstStyle/>
          <a:p>
            <a:pPr marL="0" indent="0" algn="l">
              <a:lnSpc>
                <a:spcPct val="108000"/>
              </a:lnSpc>
              <a:buNone/>
            </a:pPr>
            <a:r>
              <a:rPr lang="en-US" sz="1350" dirty="0">
                <a:solidFill>
                  <a:srgbClr val="4A5B5C"/>
                </a:solidFill>
                <a:latin typeface="Calibri" pitchFamily="34" charset="0"/>
                <a:ea typeface="Calibri" pitchFamily="34" charset="-122"/>
                <a:cs typeface="Calibri" pitchFamily="34" charset="-120"/>
              </a:rPr>
              <a:t>The adsorbent captures heavy-metal ions, cleaning polluted water through adsorption.</a:t>
            </a:r>
            <a:endParaRPr lang="en-US" sz="1350" dirty="0"/>
          </a:p>
        </p:txBody>
      </p:sp>
      <p:sp>
        <p:nvSpPr>
          <p:cNvPr id="18" name="Shape 14"/>
          <p:cNvSpPr/>
          <p:nvPr/>
        </p:nvSpPr>
        <p:spPr>
          <a:xfrm>
            <a:off x="8042148" y="2880360"/>
            <a:ext cx="3520440" cy="3246120"/>
          </a:xfrm>
          <a:prstGeom prst="roundRect">
            <a:avLst>
              <a:gd name="adj" fmla="val 3380"/>
            </a:avLst>
          </a:prstGeom>
          <a:solidFill>
            <a:srgbClr val="FFFFFF"/>
          </a:solidFill>
          <a:ln/>
          <a:effectLst>
            <a:outerShdw blurRad="101600" dist="38100" dir="5400000" algn="bl" rotWithShape="0">
              <a:srgbClr val="000000">
                <a:alpha val="14000"/>
              </a:srgbClr>
            </a:outerShdw>
          </a:effectLst>
        </p:spPr>
      </p:sp>
      <p:sp>
        <p:nvSpPr>
          <p:cNvPr id="19" name="Text 15"/>
          <p:cNvSpPr/>
          <p:nvPr/>
        </p:nvSpPr>
        <p:spPr>
          <a:xfrm>
            <a:off x="10190988" y="2926080"/>
            <a:ext cx="1280160" cy="1280160"/>
          </a:xfrm>
          <a:prstGeom prst="rect">
            <a:avLst/>
          </a:prstGeom>
          <a:noFill/>
          <a:ln/>
        </p:spPr>
        <p:txBody>
          <a:bodyPr wrap="square" lIns="0" tIns="0" rIns="0" bIns="0" rtlCol="0" anchor="t"/>
          <a:lstStyle/>
          <a:p>
            <a:pPr marL="0" indent="0" algn="r">
              <a:buNone/>
            </a:pPr>
            <a:r>
              <a:rPr lang="en-US" sz="8000" b="1" dirty="0">
                <a:solidFill>
                  <a:srgbClr val="C77D1A">
                    <a:alpha val="16000"/>
                  </a:srgbClr>
                </a:solidFill>
                <a:latin typeface="Cambria" pitchFamily="34" charset="0"/>
                <a:ea typeface="Cambria" pitchFamily="34" charset="-122"/>
                <a:cs typeface="Cambria" pitchFamily="34" charset="-120"/>
              </a:rPr>
              <a:t>3</a:t>
            </a:r>
            <a:endParaRPr lang="en-US" sz="8000" dirty="0"/>
          </a:p>
        </p:txBody>
      </p:sp>
      <p:sp>
        <p:nvSpPr>
          <p:cNvPr id="20" name="Shape 16"/>
          <p:cNvSpPr/>
          <p:nvPr/>
        </p:nvSpPr>
        <p:spPr>
          <a:xfrm>
            <a:off x="8426196" y="3264408"/>
            <a:ext cx="868680" cy="868680"/>
          </a:xfrm>
          <a:prstGeom prst="ellipse">
            <a:avLst/>
          </a:prstGeom>
          <a:solidFill>
            <a:srgbClr val="C77D1A"/>
          </a:solidFill>
          <a:ln/>
          <a:effectLst>
            <a:outerShdw blurRad="101600" dist="38100" dir="5400000" algn="bl" rotWithShape="0">
              <a:srgbClr val="000000">
                <a:alpha val="20000"/>
              </a:srgbClr>
            </a:outerShdw>
          </a:effectLst>
        </p:spPr>
      </p:sp>
      <p:pic>
        <p:nvPicPr>
          <p:cNvPr id="21" name="Image 2" descr="preencoded.png"/>
          <p:cNvPicPr>
            <a:picLocks noChangeAspect="1"/>
          </p:cNvPicPr>
          <p:nvPr/>
        </p:nvPicPr>
        <p:blipFill>
          <a:blip r:embed="rId5"/>
          <a:stretch>
            <a:fillRect/>
          </a:stretch>
        </p:blipFill>
        <p:spPr>
          <a:xfrm>
            <a:off x="8660740" y="3498952"/>
            <a:ext cx="399593" cy="399593"/>
          </a:xfrm>
          <a:prstGeom prst="rect">
            <a:avLst/>
          </a:prstGeom>
        </p:spPr>
      </p:pic>
      <p:sp>
        <p:nvSpPr>
          <p:cNvPr id="22" name="Text 17"/>
          <p:cNvSpPr/>
          <p:nvPr/>
        </p:nvSpPr>
        <p:spPr>
          <a:xfrm>
            <a:off x="8426196" y="4361688"/>
            <a:ext cx="2752344" cy="777240"/>
          </a:xfrm>
          <a:prstGeom prst="rect">
            <a:avLst/>
          </a:prstGeom>
          <a:noFill/>
          <a:ln/>
        </p:spPr>
        <p:txBody>
          <a:bodyPr wrap="square" lIns="0" tIns="0" rIns="0" bIns="0" rtlCol="0" anchor="t"/>
          <a:lstStyle/>
          <a:p>
            <a:pPr marL="0" indent="0" algn="l">
              <a:lnSpc>
                <a:spcPct val="100000"/>
              </a:lnSpc>
              <a:buNone/>
            </a:pPr>
            <a:r>
              <a:rPr lang="en-US" sz="1850" b="1" dirty="0">
                <a:solidFill>
                  <a:srgbClr val="1B2A2B"/>
                </a:solidFill>
                <a:latin typeface="Cambria" pitchFamily="34" charset="0"/>
                <a:ea typeface="Cambria" pitchFamily="34" charset="-122"/>
                <a:cs typeface="Cambria" pitchFamily="34" charset="-120"/>
              </a:rPr>
              <a:t>Heavy Metal to Resource</a:t>
            </a:r>
            <a:endParaRPr lang="en-US" sz="1850" dirty="0"/>
          </a:p>
        </p:txBody>
      </p:sp>
      <p:sp>
        <p:nvSpPr>
          <p:cNvPr id="23" name="Text 18"/>
          <p:cNvSpPr/>
          <p:nvPr/>
        </p:nvSpPr>
        <p:spPr>
          <a:xfrm>
            <a:off x="8426196" y="5093208"/>
            <a:ext cx="2752344" cy="914400"/>
          </a:xfrm>
          <a:prstGeom prst="rect">
            <a:avLst/>
          </a:prstGeom>
          <a:noFill/>
          <a:ln/>
        </p:spPr>
        <p:txBody>
          <a:bodyPr wrap="square" lIns="0" tIns="0" rIns="0" bIns="0" rtlCol="0" anchor="t"/>
          <a:lstStyle/>
          <a:p>
            <a:pPr marL="0" indent="0" algn="l">
              <a:lnSpc>
                <a:spcPct val="108000"/>
              </a:lnSpc>
              <a:buNone/>
            </a:pPr>
            <a:r>
              <a:rPr lang="en-US" sz="1350" dirty="0">
                <a:solidFill>
                  <a:srgbClr val="4A5B5C"/>
                </a:solidFill>
                <a:latin typeface="Calibri" pitchFamily="34" charset="0"/>
                <a:ea typeface="Calibri" pitchFamily="34" charset="-122"/>
                <a:cs typeface="Calibri" pitchFamily="34" charset="-120"/>
              </a:rPr>
              <a:t>Captured metals are recovered and returned as a reusable resource, closing the loop.</a:t>
            </a:r>
            <a:endParaRPr lang="en-US" sz="1350" dirty="0"/>
          </a:p>
        </p:txBody>
      </p:sp>
      <p:sp>
        <p:nvSpPr>
          <p:cNvPr id="24" name="Text 19"/>
          <p:cNvSpPr/>
          <p:nvPr/>
        </p:nvSpPr>
        <p:spPr>
          <a:xfrm>
            <a:off x="3982212" y="3383280"/>
            <a:ext cx="457200" cy="640080"/>
          </a:xfrm>
          <a:prstGeom prst="rect">
            <a:avLst/>
          </a:prstGeom>
          <a:noFill/>
          <a:ln/>
        </p:spPr>
        <p:txBody>
          <a:bodyPr wrap="square" lIns="0" tIns="0" rIns="0" bIns="0" rtlCol="0" anchor="ctr"/>
          <a:lstStyle/>
          <a:p>
            <a:pPr marL="0" indent="0" algn="ctr">
              <a:buNone/>
            </a:pPr>
            <a:r>
              <a:rPr lang="en-US" sz="2600" b="1" dirty="0">
                <a:solidFill>
                  <a:srgbClr val="C77D1A"/>
                </a:solidFill>
                <a:latin typeface="Arial" pitchFamily="34" charset="0"/>
                <a:ea typeface="Arial" pitchFamily="34" charset="-122"/>
                <a:cs typeface="Arial" pitchFamily="34" charset="-120"/>
              </a:rPr>
              <a:t>→</a:t>
            </a:r>
            <a:endParaRPr lang="en-US" sz="2600" dirty="0"/>
          </a:p>
        </p:txBody>
      </p:sp>
      <p:sp>
        <p:nvSpPr>
          <p:cNvPr id="25" name="Text 20"/>
          <p:cNvSpPr/>
          <p:nvPr/>
        </p:nvSpPr>
        <p:spPr>
          <a:xfrm>
            <a:off x="7703820" y="3383280"/>
            <a:ext cx="457200" cy="640080"/>
          </a:xfrm>
          <a:prstGeom prst="rect">
            <a:avLst/>
          </a:prstGeom>
          <a:noFill/>
          <a:ln/>
        </p:spPr>
        <p:txBody>
          <a:bodyPr wrap="square" lIns="0" tIns="0" rIns="0" bIns="0" rtlCol="0" anchor="ctr"/>
          <a:lstStyle/>
          <a:p>
            <a:pPr marL="0" indent="0" algn="ctr">
              <a:buNone/>
            </a:pPr>
            <a:r>
              <a:rPr lang="en-US" sz="2600" b="1" dirty="0">
                <a:solidFill>
                  <a:srgbClr val="C77D1A"/>
                </a:solidFill>
                <a:latin typeface="Arial" pitchFamily="34" charset="0"/>
                <a:ea typeface="Arial" pitchFamily="34" charset="-122"/>
                <a:cs typeface="Arial" pitchFamily="34" charset="-120"/>
              </a:rPr>
              <a:t>→</a:t>
            </a:r>
            <a:endParaRPr lang="en-US"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86495" y="1080655"/>
            <a:ext cx="9543010" cy="5632311"/>
          </a:xfrm>
          <a:prstGeom prst="rect">
            <a:avLst/>
          </a:prstGeom>
          <a:noFill/>
        </p:spPr>
        <p:txBody>
          <a:bodyPr wrap="square" rtlCol="0">
            <a:spAutoFit/>
          </a:bodyPr>
          <a:lstStyle/>
          <a:p>
            <a:r>
              <a:rPr lang="en-US" dirty="0"/>
              <a:t>Steps of our capstone project:</a:t>
            </a:r>
          </a:p>
          <a:p>
            <a:endParaRPr lang="en-US" dirty="0"/>
          </a:p>
          <a:p>
            <a:pPr marL="342900" indent="-342900">
              <a:buFont typeface="+mj-lt"/>
              <a:buAutoNum type="arabicPeriod"/>
            </a:pPr>
            <a:r>
              <a:rPr lang="en-US" dirty="0"/>
              <a:t>Collected mill scale.</a:t>
            </a:r>
          </a:p>
          <a:p>
            <a:pPr marL="342900" indent="-342900">
              <a:buFont typeface="+mj-lt"/>
              <a:buAutoNum type="arabicPeriod"/>
            </a:pPr>
            <a:endParaRPr lang="en-US" dirty="0"/>
          </a:p>
          <a:p>
            <a:pPr marL="342900" indent="-342900">
              <a:buFont typeface="+mj-lt"/>
              <a:buAutoNum type="arabicPeriod"/>
            </a:pPr>
            <a:r>
              <a:rPr lang="en-US" dirty="0"/>
              <a:t>Performed an XRD test (at the Atomic Energy Commission) to identify the phases in our mill scale.</a:t>
            </a:r>
          </a:p>
          <a:p>
            <a:pPr marL="342900" indent="-342900">
              <a:buFont typeface="+mj-lt"/>
              <a:buAutoNum type="arabicPeriod"/>
            </a:pPr>
            <a:endParaRPr lang="en-US" dirty="0"/>
          </a:p>
          <a:p>
            <a:pPr marL="342900" indent="-342900">
              <a:buFont typeface="+mj-lt"/>
              <a:buAutoNum type="arabicPeriod"/>
            </a:pPr>
            <a:r>
              <a:rPr lang="en-US" dirty="0"/>
              <a:t>In a 500mL glass beaker, 30g of mill scale powder was treated with 150mL of concentrated H₂SO₄.</a:t>
            </a:r>
          </a:p>
          <a:p>
            <a:pPr marL="342900" indent="-342900">
              <a:buFont typeface="+mj-lt"/>
              <a:buAutoNum type="arabicPeriod"/>
            </a:pPr>
            <a:endParaRPr lang="en-US" dirty="0"/>
          </a:p>
          <a:p>
            <a:pPr marL="342900" indent="-342900">
              <a:buFont typeface="+mj-lt"/>
              <a:buAutoNum type="arabicPeriod"/>
            </a:pPr>
            <a:r>
              <a:rPr lang="en-US" dirty="0"/>
              <a:t>We heated the mixture on a hot plate until all the precipitate formed and settled firmly at the bottom of the beaker.</a:t>
            </a:r>
          </a:p>
          <a:p>
            <a:pPr marL="342900" indent="-342900">
              <a:buFont typeface="+mj-lt"/>
              <a:buAutoNum type="arabicPeriod"/>
            </a:pPr>
            <a:endParaRPr lang="en-US" dirty="0"/>
          </a:p>
          <a:p>
            <a:pPr marL="342900" indent="-342900">
              <a:buFont typeface="+mj-lt"/>
              <a:buAutoNum type="arabicPeriod"/>
            </a:pPr>
            <a:r>
              <a:rPr lang="en-US" dirty="0"/>
              <a:t>We separated the remaining H₂SO₄ by decantation, transferred the precipitate into a porcelain bowl, and dried it until the H₂SO₄ evaporated and the precipitate became dry.</a:t>
            </a:r>
          </a:p>
          <a:p>
            <a:pPr marL="342900" indent="-342900">
              <a:buFont typeface="+mj-lt"/>
              <a:buAutoNum type="arabicPeriod"/>
            </a:pPr>
            <a:endParaRPr lang="en-US" dirty="0"/>
          </a:p>
          <a:p>
            <a:pPr marL="342900" indent="-342900">
              <a:buFont typeface="+mj-lt"/>
              <a:buAutoNum type="arabicPeriod"/>
            </a:pPr>
            <a:r>
              <a:rPr lang="en-US" dirty="0"/>
              <a:t>Then we dissolved the precipitate in water. By slightly heating, the remaining precipitate dissolved (180mL of water was added).</a:t>
            </a:r>
          </a:p>
          <a:p>
            <a:pPr marL="342900" indent="-342900">
              <a:buFont typeface="+mj-lt"/>
              <a:buAutoNum type="arabicPeriod"/>
            </a:pPr>
            <a:endParaRPr lang="en-US" dirty="0"/>
          </a:p>
        </p:txBody>
      </p:sp>
      <p:sp>
        <p:nvSpPr>
          <p:cNvPr id="3" name="TextBox 2">
            <a:extLst>
              <a:ext uri="{FF2B5EF4-FFF2-40B4-BE49-F238E27FC236}">
                <a16:creationId xmlns:a16="http://schemas.microsoft.com/office/drawing/2014/main" id="{4900CE64-EDCD-EE65-D2F0-3D07EE398F64}"/>
              </a:ext>
            </a:extLst>
          </p:cNvPr>
          <p:cNvSpPr txBox="1"/>
          <p:nvPr/>
        </p:nvSpPr>
        <p:spPr>
          <a:xfrm>
            <a:off x="2199736" y="362309"/>
            <a:ext cx="1702710" cy="369332"/>
          </a:xfrm>
          <a:prstGeom prst="rect">
            <a:avLst/>
          </a:prstGeom>
          <a:noFill/>
        </p:spPr>
        <p:txBody>
          <a:bodyPr wrap="none" rtlCol="0">
            <a:spAutoFit/>
          </a:bodyPr>
          <a:lstStyle/>
          <a:p>
            <a:r>
              <a:rPr lang="en-US" b="1" u="sng" dirty="0"/>
              <a:t>Methodology</a:t>
            </a:r>
          </a:p>
        </p:txBody>
      </p:sp>
    </p:spTree>
    <p:extLst>
      <p:ext uri="{BB962C8B-B14F-4D97-AF65-F5344CB8AC3E}">
        <p14:creationId xmlns:p14="http://schemas.microsoft.com/office/powerpoint/2010/main" val="11027148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p:cNvSpPr txBox="1"/>
              <p:nvPr/>
            </p:nvSpPr>
            <p:spPr>
              <a:xfrm>
                <a:off x="2086495" y="1080655"/>
                <a:ext cx="9543010" cy="4247317"/>
              </a:xfrm>
              <a:prstGeom prst="rect">
                <a:avLst/>
              </a:prstGeom>
              <a:noFill/>
            </p:spPr>
            <p:txBody>
              <a:bodyPr wrap="square" rtlCol="0">
                <a:spAutoFit/>
              </a:bodyPr>
              <a:lstStyle/>
              <a:p>
                <a:r>
                  <a:rPr lang="en-US" dirty="0"/>
                  <a:t>Steps of our capstone project (continued):</a:t>
                </a:r>
                <a:br>
                  <a:rPr lang="en-US" dirty="0"/>
                </a:br>
                <a:br>
                  <a:rPr lang="en-US" dirty="0"/>
                </a:br>
                <a:r>
                  <a:rPr lang="en-US" dirty="0"/>
                  <a:t>7. We added 5mL of 40% NaOH, which produced a dark blue sediment.</a:t>
                </a:r>
              </a:p>
              <a:p>
                <a:endParaRPr lang="en-US" dirty="0"/>
              </a:p>
              <a:p>
                <a:r>
                  <a:rPr lang="en-US" dirty="0"/>
                  <a:t>8. We stored the product at room temperature for 5 days.</a:t>
                </a:r>
              </a:p>
              <a:p>
                <a:endParaRPr lang="en-US" dirty="0"/>
              </a:p>
              <a:p>
                <a:r>
                  <a:rPr lang="en-US" dirty="0">
                    <a:solidFill>
                      <a:srgbClr val="00B050"/>
                    </a:solidFill>
                  </a:rPr>
                  <a:t>9. After 5 days we will separate the product by decantation and remaining water was removed upon heating.</a:t>
                </a:r>
              </a:p>
              <a:p>
                <a:endParaRPr lang="en-US" dirty="0">
                  <a:solidFill>
                    <a:srgbClr val="00B050"/>
                  </a:solidFill>
                </a:endParaRPr>
              </a:p>
              <a:p>
                <a:r>
                  <a:rPr lang="en-US" dirty="0">
                    <a:solidFill>
                      <a:srgbClr val="00B050"/>
                    </a:solidFill>
                  </a:rPr>
                  <a:t>10. Then the sediment will be dissolved in distilled water. </a:t>
                </a:r>
              </a:p>
              <a:p>
                <a:endParaRPr lang="en-US" dirty="0">
                  <a:solidFill>
                    <a:srgbClr val="00B050"/>
                  </a:solidFill>
                </a:endParaRPr>
              </a:p>
              <a:p>
                <a:r>
                  <a:rPr lang="en-US" dirty="0">
                    <a:solidFill>
                      <a:srgbClr val="00B050"/>
                    </a:solidFill>
                  </a:rPr>
                  <a:t>11. After filtration in Buchner funnel, the liquid solution will be stirred at 200 rpm after that the product will be filtered and dried out at </a:t>
                </a:r>
                <a14:m>
                  <m:oMath xmlns:m="http://schemas.openxmlformats.org/officeDocument/2006/math">
                    <m:sSup>
                      <m:sSupPr>
                        <m:ctrlPr>
                          <a:rPr lang="en-US" i="1">
                            <a:solidFill>
                              <a:srgbClr val="00B050"/>
                            </a:solidFill>
                            <a:latin typeface="Cambria Math" panose="02040503050406030204" pitchFamily="18" charset="0"/>
                          </a:rPr>
                        </m:ctrlPr>
                      </m:sSupPr>
                      <m:e>
                        <m:r>
                          <a:rPr lang="en-US" i="1">
                            <a:solidFill>
                              <a:srgbClr val="00B050"/>
                            </a:solidFill>
                            <a:latin typeface="Cambria Math" panose="02040503050406030204" pitchFamily="18" charset="0"/>
                          </a:rPr>
                          <m:t>60</m:t>
                        </m:r>
                      </m:e>
                      <m:sup>
                        <m:r>
                          <a:rPr lang="en-US" i="1">
                            <a:solidFill>
                              <a:srgbClr val="00B050"/>
                            </a:solidFill>
                            <a:latin typeface="Cambria Math" panose="02040503050406030204" pitchFamily="18" charset="0"/>
                          </a:rPr>
                          <m:t>0</m:t>
                        </m:r>
                      </m:sup>
                    </m:sSup>
                    <m:r>
                      <a:rPr lang="en-US" i="1">
                        <a:solidFill>
                          <a:srgbClr val="00B050"/>
                        </a:solidFill>
                        <a:latin typeface="Cambria Math" panose="02040503050406030204" pitchFamily="18" charset="0"/>
                      </a:rPr>
                      <m:t>.</m:t>
                    </m:r>
                  </m:oMath>
                </a14:m>
                <a:endParaRPr lang="en-US" dirty="0">
                  <a:solidFill>
                    <a:srgbClr val="00B050"/>
                  </a:solidFill>
                </a:endParaRPr>
              </a:p>
              <a:p>
                <a:endParaRPr lang="en-US" dirty="0">
                  <a:solidFill>
                    <a:srgbClr val="00B050"/>
                  </a:solidFill>
                </a:endParaRPr>
              </a:p>
              <a:p>
                <a:r>
                  <a:rPr lang="en-US" dirty="0">
                    <a:solidFill>
                      <a:srgbClr val="00B050"/>
                    </a:solidFill>
                  </a:rPr>
                  <a:t>This will be our desired product.</a:t>
                </a:r>
              </a:p>
            </p:txBody>
          </p:sp>
        </mc:Choice>
        <mc:Fallback xmlns="">
          <p:sp>
            <p:nvSpPr>
              <p:cNvPr id="2" name="TextBox 1"/>
              <p:cNvSpPr txBox="1">
                <a:spLocks noRot="1" noChangeAspect="1" noMove="1" noResize="1" noEditPoints="1" noAdjustHandles="1" noChangeArrowheads="1" noChangeShapeType="1" noTextEdit="1"/>
              </p:cNvSpPr>
              <p:nvPr/>
            </p:nvSpPr>
            <p:spPr>
              <a:xfrm>
                <a:off x="2086495" y="1080655"/>
                <a:ext cx="9543010" cy="4247317"/>
              </a:xfrm>
              <a:prstGeom prst="rect">
                <a:avLst/>
              </a:prstGeom>
              <a:blipFill>
                <a:blip r:embed="rId2"/>
                <a:stretch>
                  <a:fillRect l="-511" t="-717" b="-1291"/>
                </a:stretch>
              </a:blipFill>
            </p:spPr>
            <p:txBody>
              <a:bodyPr/>
              <a:lstStyle/>
              <a:p>
                <a:r>
                  <a:rPr lang="en-US">
                    <a:noFill/>
                  </a:rPr>
                  <a:t> </a:t>
                </a:r>
              </a:p>
            </p:txBody>
          </p:sp>
        </mc:Fallback>
      </mc:AlternateContent>
    </p:spTree>
    <p:extLst>
      <p:ext uri="{BB962C8B-B14F-4D97-AF65-F5344CB8AC3E}">
        <p14:creationId xmlns:p14="http://schemas.microsoft.com/office/powerpoint/2010/main" val="11423077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7528" y="670651"/>
            <a:ext cx="10789920" cy="5676808"/>
          </a:xfrm>
          <a:prstGeom prst="rect">
            <a:avLst/>
          </a:prstGeom>
        </p:spPr>
      </p:pic>
    </p:spTree>
    <p:extLst>
      <p:ext uri="{BB962C8B-B14F-4D97-AF65-F5344CB8AC3E}">
        <p14:creationId xmlns:p14="http://schemas.microsoft.com/office/powerpoint/2010/main" val="29934910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1401" y="86471"/>
            <a:ext cx="8897592" cy="6668431"/>
          </a:xfrm>
          <a:prstGeom prst="rect">
            <a:avLst/>
          </a:prstGeom>
        </p:spPr>
      </p:pic>
    </p:spTree>
    <p:extLst>
      <p:ext uri="{BB962C8B-B14F-4D97-AF65-F5344CB8AC3E}">
        <p14:creationId xmlns:p14="http://schemas.microsoft.com/office/powerpoint/2010/main" val="14213224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28EE867-D3C4-E044-265E-DFBBCE1E0FA5}"/>
              </a:ext>
            </a:extLst>
          </p:cNvPr>
          <p:cNvPicPr>
            <a:picLocks noChangeAspect="1"/>
          </p:cNvPicPr>
          <p:nvPr/>
        </p:nvPicPr>
        <p:blipFill>
          <a:blip r:embed="rId2"/>
          <a:stretch>
            <a:fillRect/>
          </a:stretch>
        </p:blipFill>
        <p:spPr>
          <a:xfrm>
            <a:off x="2662259" y="1192898"/>
            <a:ext cx="2187187" cy="4472203"/>
          </a:xfrm>
          <a:prstGeom prst="rect">
            <a:avLst/>
          </a:prstGeom>
        </p:spPr>
      </p:pic>
      <p:pic>
        <p:nvPicPr>
          <p:cNvPr id="6" name="Picture 5">
            <a:extLst>
              <a:ext uri="{FF2B5EF4-FFF2-40B4-BE49-F238E27FC236}">
                <a16:creationId xmlns:a16="http://schemas.microsoft.com/office/drawing/2014/main" id="{944BF11E-3100-C4CB-B2D3-5F8F6B317CA4}"/>
              </a:ext>
            </a:extLst>
          </p:cNvPr>
          <p:cNvPicPr>
            <a:picLocks noChangeAspect="1"/>
          </p:cNvPicPr>
          <p:nvPr/>
        </p:nvPicPr>
        <p:blipFill>
          <a:blip r:embed="rId3"/>
          <a:stretch>
            <a:fillRect/>
          </a:stretch>
        </p:blipFill>
        <p:spPr>
          <a:xfrm>
            <a:off x="6852025" y="1192898"/>
            <a:ext cx="3353991" cy="4466835"/>
          </a:xfrm>
          <a:prstGeom prst="rect">
            <a:avLst/>
          </a:prstGeom>
        </p:spPr>
      </p:pic>
    </p:spTree>
    <p:extLst>
      <p:ext uri="{BB962C8B-B14F-4D97-AF65-F5344CB8AC3E}">
        <p14:creationId xmlns:p14="http://schemas.microsoft.com/office/powerpoint/2010/main" val="24565609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8DFC200-E436-D304-BA54-06D85D0CF8B9}"/>
              </a:ext>
            </a:extLst>
          </p:cNvPr>
          <p:cNvPicPr>
            <a:picLocks noChangeAspect="1"/>
          </p:cNvPicPr>
          <p:nvPr/>
        </p:nvPicPr>
        <p:blipFill>
          <a:blip r:embed="rId2"/>
          <a:stretch>
            <a:fillRect/>
          </a:stretch>
        </p:blipFill>
        <p:spPr>
          <a:xfrm>
            <a:off x="3827566" y="523875"/>
            <a:ext cx="3916259" cy="5215662"/>
          </a:xfrm>
          <a:prstGeom prst="rect">
            <a:avLst/>
          </a:prstGeom>
        </p:spPr>
      </p:pic>
    </p:spTree>
    <p:extLst>
      <p:ext uri="{BB962C8B-B14F-4D97-AF65-F5344CB8AC3E}">
        <p14:creationId xmlns:p14="http://schemas.microsoft.com/office/powerpoint/2010/main" val="1195130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D282BD-AEBD-EEBE-5EEE-BA62B15D7AE6}"/>
              </a:ext>
            </a:extLst>
          </p:cNvPr>
          <p:cNvPicPr>
            <a:picLocks noChangeAspect="1"/>
          </p:cNvPicPr>
          <p:nvPr/>
        </p:nvPicPr>
        <p:blipFill>
          <a:blip r:embed="rId2"/>
          <a:stretch>
            <a:fillRect/>
          </a:stretch>
        </p:blipFill>
        <p:spPr>
          <a:xfrm>
            <a:off x="4208850" y="912800"/>
            <a:ext cx="3774300" cy="5032400"/>
          </a:xfrm>
          <a:prstGeom prst="rect">
            <a:avLst/>
          </a:prstGeom>
        </p:spPr>
      </p:pic>
    </p:spTree>
    <p:extLst>
      <p:ext uri="{BB962C8B-B14F-4D97-AF65-F5344CB8AC3E}">
        <p14:creationId xmlns:p14="http://schemas.microsoft.com/office/powerpoint/2010/main" val="4132144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F387EC1-011C-8867-CFB5-D0D423927FF1}"/>
              </a:ext>
            </a:extLst>
          </p:cNvPr>
          <p:cNvPicPr>
            <a:picLocks noChangeAspect="1"/>
          </p:cNvPicPr>
          <p:nvPr/>
        </p:nvPicPr>
        <p:blipFill>
          <a:blip r:embed="rId2"/>
          <a:stretch>
            <a:fillRect/>
          </a:stretch>
        </p:blipFill>
        <p:spPr>
          <a:xfrm>
            <a:off x="1857375" y="903300"/>
            <a:ext cx="3781425" cy="5041900"/>
          </a:xfrm>
          <a:prstGeom prst="rect">
            <a:avLst/>
          </a:prstGeom>
        </p:spPr>
      </p:pic>
      <p:pic>
        <p:nvPicPr>
          <p:cNvPr id="4" name="Picture 3">
            <a:extLst>
              <a:ext uri="{FF2B5EF4-FFF2-40B4-BE49-F238E27FC236}">
                <a16:creationId xmlns:a16="http://schemas.microsoft.com/office/drawing/2014/main" id="{1282CB6C-8822-DF0D-2F1F-5F4675E294A0}"/>
              </a:ext>
            </a:extLst>
          </p:cNvPr>
          <p:cNvPicPr>
            <a:picLocks noChangeAspect="1"/>
          </p:cNvPicPr>
          <p:nvPr/>
        </p:nvPicPr>
        <p:blipFill>
          <a:blip r:embed="rId3"/>
          <a:stretch>
            <a:fillRect/>
          </a:stretch>
        </p:blipFill>
        <p:spPr>
          <a:xfrm>
            <a:off x="7218750" y="912800"/>
            <a:ext cx="3774300" cy="5032400"/>
          </a:xfrm>
          <a:prstGeom prst="rect">
            <a:avLst/>
          </a:prstGeom>
        </p:spPr>
      </p:pic>
    </p:spTree>
    <p:extLst>
      <p:ext uri="{BB962C8B-B14F-4D97-AF65-F5344CB8AC3E}">
        <p14:creationId xmlns:p14="http://schemas.microsoft.com/office/powerpoint/2010/main" val="40363712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94160" y="1005840"/>
            <a:ext cx="3519309" cy="4687529"/>
          </a:xfrm>
          <a:prstGeom prst="rect">
            <a:avLst/>
          </a:prstGeom>
        </p:spPr>
      </p:pic>
    </p:spTree>
    <p:extLst>
      <p:ext uri="{BB962C8B-B14F-4D97-AF65-F5344CB8AC3E}">
        <p14:creationId xmlns:p14="http://schemas.microsoft.com/office/powerpoint/2010/main" val="3303940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98116" y="1205345"/>
            <a:ext cx="2989458" cy="3981796"/>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12174" y="1205345"/>
            <a:ext cx="3026905" cy="4031673"/>
          </a:xfrm>
          <a:prstGeom prst="rect">
            <a:avLst/>
          </a:prstGeom>
        </p:spPr>
      </p:pic>
    </p:spTree>
    <p:extLst>
      <p:ext uri="{BB962C8B-B14F-4D97-AF65-F5344CB8AC3E}">
        <p14:creationId xmlns:p14="http://schemas.microsoft.com/office/powerpoint/2010/main" val="37905178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250830"/>
            <a:ext cx="9144000" cy="2552274"/>
          </a:xfrm>
        </p:spPr>
        <p:txBody>
          <a:bodyPr>
            <a:normAutofit/>
          </a:bodyPr>
          <a:lstStyle/>
          <a:p>
            <a:r>
              <a:rPr lang="en-US" sz="4400" b="1" dirty="0"/>
              <a:t>MILLSORPT-MILL SCALE TO METAL FREE </a:t>
            </a:r>
            <a:br>
              <a:rPr lang="en-US" sz="4400" b="1" dirty="0"/>
            </a:br>
            <a:br>
              <a:rPr lang="en-US" sz="4400" b="1" dirty="0"/>
            </a:br>
            <a:r>
              <a:rPr lang="en-US" sz="2200" b="1" dirty="0"/>
              <a:t>SET UP </a:t>
            </a:r>
          </a:p>
        </p:txBody>
      </p:sp>
      <p:sp>
        <p:nvSpPr>
          <p:cNvPr id="3" name="Subtitle 2"/>
          <p:cNvSpPr>
            <a:spLocks noGrp="1"/>
          </p:cNvSpPr>
          <p:nvPr>
            <p:ph type="subTitle" idx="1"/>
          </p:nvPr>
        </p:nvSpPr>
        <p:spPr>
          <a:xfrm>
            <a:off x="801977" y="5733343"/>
            <a:ext cx="2913812" cy="484577"/>
          </a:xfrm>
        </p:spPr>
        <p:txBody>
          <a:bodyPr>
            <a:normAutofit/>
          </a:bodyPr>
          <a:lstStyle/>
          <a:p>
            <a:r>
              <a:rPr lang="en-US" dirty="0"/>
              <a:t>Presented by group-02</a:t>
            </a:r>
          </a:p>
        </p:txBody>
      </p:sp>
    </p:spTree>
    <p:extLst>
      <p:ext uri="{BB962C8B-B14F-4D97-AF65-F5344CB8AC3E}">
        <p14:creationId xmlns:p14="http://schemas.microsoft.com/office/powerpoint/2010/main" val="2592356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715207" y="12927"/>
            <a:ext cx="6848437" cy="6288947"/>
          </a:xfrm>
          <a:prstGeom prst="rect">
            <a:avLst/>
          </a:prstGeom>
        </p:spPr>
      </p:pic>
      <p:sp>
        <p:nvSpPr>
          <p:cNvPr id="4" name="TextBox 3"/>
          <p:cNvSpPr txBox="1"/>
          <p:nvPr/>
        </p:nvSpPr>
        <p:spPr>
          <a:xfrm>
            <a:off x="5153066" y="6301874"/>
            <a:ext cx="1972720" cy="369332"/>
          </a:xfrm>
          <a:prstGeom prst="rect">
            <a:avLst/>
          </a:prstGeom>
          <a:noFill/>
          <a:ln>
            <a:solidFill>
              <a:schemeClr val="tx1"/>
            </a:solidFill>
          </a:ln>
        </p:spPr>
        <p:txBody>
          <a:bodyPr wrap="none" rtlCol="0">
            <a:spAutoFit/>
          </a:bodyPr>
          <a:lstStyle/>
          <a:p>
            <a:r>
              <a:rPr lang="en-US" dirty="0"/>
              <a:t>Design of our Filter</a:t>
            </a:r>
          </a:p>
        </p:txBody>
      </p:sp>
      <p:sp>
        <p:nvSpPr>
          <p:cNvPr id="2" name="TextBox 1"/>
          <p:cNvSpPr txBox="1"/>
          <p:nvPr/>
        </p:nvSpPr>
        <p:spPr>
          <a:xfrm>
            <a:off x="4771505" y="922713"/>
            <a:ext cx="1097280" cy="374072"/>
          </a:xfrm>
          <a:prstGeom prst="rect">
            <a:avLst/>
          </a:prstGeom>
          <a:noFill/>
        </p:spPr>
        <p:txBody>
          <a:bodyPr wrap="square" rtlCol="0">
            <a:spAutoFit/>
          </a:bodyPr>
          <a:lstStyle/>
          <a:p>
            <a:r>
              <a:rPr lang="en-US" dirty="0"/>
              <a:t>Charcoal</a:t>
            </a:r>
          </a:p>
        </p:txBody>
      </p:sp>
    </p:spTree>
    <p:extLst>
      <p:ext uri="{BB962C8B-B14F-4D97-AF65-F5344CB8AC3E}">
        <p14:creationId xmlns:p14="http://schemas.microsoft.com/office/powerpoint/2010/main" val="42670222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506343" y="427491"/>
            <a:ext cx="5329748" cy="5753626"/>
          </a:xfrm>
          <a:prstGeom prst="rect">
            <a:avLst/>
          </a:prstGeom>
        </p:spPr>
      </p:pic>
      <p:grpSp>
        <p:nvGrpSpPr>
          <p:cNvPr id="6" name="Group 5"/>
          <p:cNvGrpSpPr/>
          <p:nvPr/>
        </p:nvGrpSpPr>
        <p:grpSpPr>
          <a:xfrm>
            <a:off x="5019271" y="1587731"/>
            <a:ext cx="699885" cy="1238596"/>
            <a:chOff x="5019271" y="1587731"/>
            <a:chExt cx="699885" cy="1238596"/>
          </a:xfrm>
        </p:grpSpPr>
        <p:cxnSp>
          <p:nvCxnSpPr>
            <p:cNvPr id="4" name="Straight Arrow Connector 3"/>
            <p:cNvCxnSpPr/>
            <p:nvPr/>
          </p:nvCxnSpPr>
          <p:spPr>
            <a:xfrm>
              <a:off x="5087389" y="1587731"/>
              <a:ext cx="631767" cy="1238596"/>
            </a:xfrm>
            <a:prstGeom prst="straightConnector1">
              <a:avLst/>
            </a:prstGeom>
            <a:ln>
              <a:solidFill>
                <a:srgbClr val="FF0000"/>
              </a:solidFill>
              <a:headEnd type="triangle"/>
              <a:tailEnd type="triangle"/>
            </a:ln>
          </p:spPr>
          <p:style>
            <a:lnRef idx="3">
              <a:schemeClr val="accent2"/>
            </a:lnRef>
            <a:fillRef idx="0">
              <a:schemeClr val="accent2"/>
            </a:fillRef>
            <a:effectRef idx="2">
              <a:schemeClr val="accent2"/>
            </a:effectRef>
            <a:fontRef idx="minor">
              <a:schemeClr val="tx1"/>
            </a:fontRef>
          </p:style>
        </p:cxnSp>
        <p:sp>
          <p:nvSpPr>
            <p:cNvPr id="5" name="TextBox 4"/>
            <p:cNvSpPr txBox="1"/>
            <p:nvPr/>
          </p:nvSpPr>
          <p:spPr>
            <a:xfrm rot="3718130">
              <a:off x="4721967" y="2125552"/>
              <a:ext cx="963939" cy="369332"/>
            </a:xfrm>
            <a:prstGeom prst="rect">
              <a:avLst/>
            </a:prstGeom>
            <a:noFill/>
          </p:spPr>
          <p:txBody>
            <a:bodyPr wrap="square" rtlCol="0">
              <a:spAutoFit/>
            </a:bodyPr>
            <a:lstStyle/>
            <a:p>
              <a:r>
                <a:rPr lang="en-US" dirty="0">
                  <a:solidFill>
                    <a:srgbClr val="FF0000"/>
                  </a:solidFill>
                </a:rPr>
                <a:t>5 inches</a:t>
              </a:r>
            </a:p>
          </p:txBody>
        </p:sp>
      </p:grpSp>
    </p:spTree>
    <p:extLst>
      <p:ext uri="{BB962C8B-B14F-4D97-AF65-F5344CB8AC3E}">
        <p14:creationId xmlns:p14="http://schemas.microsoft.com/office/powerpoint/2010/main" val="30952546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855" y="1721662"/>
            <a:ext cx="5686994" cy="3556919"/>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6002" y="1721662"/>
            <a:ext cx="5844558" cy="3555554"/>
          </a:xfrm>
          <a:prstGeom prst="rect">
            <a:avLst/>
          </a:prstGeom>
        </p:spPr>
      </p:pic>
      <p:sp>
        <p:nvSpPr>
          <p:cNvPr id="4" name="TextBox 3"/>
          <p:cNvSpPr txBox="1"/>
          <p:nvPr/>
        </p:nvSpPr>
        <p:spPr>
          <a:xfrm>
            <a:off x="789709" y="972589"/>
            <a:ext cx="806335" cy="382386"/>
          </a:xfrm>
          <a:prstGeom prst="rect">
            <a:avLst/>
          </a:prstGeom>
          <a:noFill/>
          <a:ln>
            <a:solidFill>
              <a:srgbClr val="FF0000"/>
            </a:solidFill>
          </a:ln>
        </p:spPr>
        <p:txBody>
          <a:bodyPr wrap="square" rtlCol="0">
            <a:spAutoFit/>
          </a:bodyPr>
          <a:lstStyle/>
          <a:p>
            <a:r>
              <a:rPr lang="en-US" b="1" dirty="0">
                <a:solidFill>
                  <a:srgbClr val="FF0000"/>
                </a:solidFill>
                <a:latin typeface="Times New Roman" panose="02020603050405020304" pitchFamily="18" charset="0"/>
                <a:cs typeface="Times New Roman" panose="02020603050405020304" pitchFamily="18" charset="0"/>
              </a:rPr>
              <a:t>Filter</a:t>
            </a:r>
          </a:p>
        </p:txBody>
      </p:sp>
      <p:cxnSp>
        <p:nvCxnSpPr>
          <p:cNvPr id="6" name="Straight Arrow Connector 5"/>
          <p:cNvCxnSpPr>
            <a:stCxn id="4" idx="2"/>
          </p:cNvCxnSpPr>
          <p:nvPr/>
        </p:nvCxnSpPr>
        <p:spPr>
          <a:xfrm>
            <a:off x="1192877" y="1354975"/>
            <a:ext cx="544483" cy="156279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3923606" y="431645"/>
            <a:ext cx="1637608" cy="923330"/>
          </a:xfrm>
          <a:prstGeom prst="rect">
            <a:avLst/>
          </a:prstGeom>
          <a:noFill/>
          <a:ln>
            <a:solidFill>
              <a:srgbClr val="FF0000"/>
            </a:solidFill>
          </a:ln>
        </p:spPr>
        <p:txBody>
          <a:bodyPr wrap="square" rtlCol="0">
            <a:spAutoFit/>
          </a:bodyPr>
          <a:lstStyle/>
          <a:p>
            <a:r>
              <a:rPr lang="en-US" dirty="0">
                <a:solidFill>
                  <a:srgbClr val="FF0000"/>
                </a:solidFill>
                <a:latin typeface="Times New Roman" panose="02020603050405020304" pitchFamily="18" charset="0"/>
                <a:cs typeface="Times New Roman" panose="02020603050405020304" pitchFamily="18" charset="0"/>
              </a:rPr>
              <a:t>Purified Water Storage Compartment</a:t>
            </a:r>
          </a:p>
        </p:txBody>
      </p:sp>
      <p:cxnSp>
        <p:nvCxnSpPr>
          <p:cNvPr id="9" name="Straight Arrow Connector 8"/>
          <p:cNvCxnSpPr/>
          <p:nvPr/>
        </p:nvCxnSpPr>
        <p:spPr>
          <a:xfrm flipH="1">
            <a:off x="4206240" y="1354975"/>
            <a:ext cx="723207" cy="214446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5" name="Oval 4"/>
          <p:cNvSpPr/>
          <p:nvPr/>
        </p:nvSpPr>
        <p:spPr>
          <a:xfrm>
            <a:off x="1471353" y="3150524"/>
            <a:ext cx="1072342" cy="7481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471353" y="2929774"/>
            <a:ext cx="1072342" cy="7481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1483823" y="2711334"/>
            <a:ext cx="1072342" cy="7481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p:cNvCxnSpPr/>
          <p:nvPr/>
        </p:nvCxnSpPr>
        <p:spPr>
          <a:xfrm>
            <a:off x="1022465" y="4339244"/>
            <a:ext cx="4023360" cy="0"/>
          </a:xfrm>
          <a:prstGeom prst="straightConnector1">
            <a:avLst/>
          </a:prstGeom>
          <a:ln>
            <a:headEnd type="triangle"/>
            <a:tailEnd type="triangle"/>
          </a:ln>
        </p:spPr>
        <p:style>
          <a:lnRef idx="3">
            <a:schemeClr val="accent4"/>
          </a:lnRef>
          <a:fillRef idx="0">
            <a:schemeClr val="accent4"/>
          </a:fillRef>
          <a:effectRef idx="2">
            <a:schemeClr val="accent4"/>
          </a:effectRef>
          <a:fontRef idx="minor">
            <a:schemeClr val="tx1"/>
          </a:fontRef>
        </p:style>
      </p:cxnSp>
      <p:sp>
        <p:nvSpPr>
          <p:cNvPr id="13" name="TextBox 12"/>
          <p:cNvSpPr txBox="1"/>
          <p:nvPr/>
        </p:nvSpPr>
        <p:spPr>
          <a:xfrm>
            <a:off x="2464723" y="4339244"/>
            <a:ext cx="1138844" cy="369332"/>
          </a:xfrm>
          <a:prstGeom prst="rect">
            <a:avLst/>
          </a:prstGeom>
          <a:noFill/>
        </p:spPr>
        <p:txBody>
          <a:bodyPr wrap="square" rtlCol="0">
            <a:spAutoFit/>
          </a:bodyPr>
          <a:lstStyle/>
          <a:p>
            <a:r>
              <a:rPr lang="en-US" dirty="0">
                <a:solidFill>
                  <a:srgbClr val="FFFF00"/>
                </a:solidFill>
              </a:rPr>
              <a:t>17 inches</a:t>
            </a:r>
          </a:p>
        </p:txBody>
      </p:sp>
      <p:cxnSp>
        <p:nvCxnSpPr>
          <p:cNvPr id="14" name="Straight Arrow Connector 13"/>
          <p:cNvCxnSpPr/>
          <p:nvPr/>
        </p:nvCxnSpPr>
        <p:spPr>
          <a:xfrm flipV="1">
            <a:off x="9775767" y="3591098"/>
            <a:ext cx="1604357" cy="1022466"/>
          </a:xfrm>
          <a:prstGeom prst="straightConnector1">
            <a:avLst/>
          </a:prstGeom>
          <a:ln>
            <a:headEnd type="triangle"/>
            <a:tailEnd type="triangle"/>
          </a:ln>
        </p:spPr>
        <p:style>
          <a:lnRef idx="3">
            <a:schemeClr val="accent4"/>
          </a:lnRef>
          <a:fillRef idx="0">
            <a:schemeClr val="accent4"/>
          </a:fillRef>
          <a:effectRef idx="2">
            <a:schemeClr val="accent4"/>
          </a:effectRef>
          <a:fontRef idx="minor">
            <a:schemeClr val="tx1"/>
          </a:fontRef>
        </p:style>
      </p:cxnSp>
      <p:sp>
        <p:nvSpPr>
          <p:cNvPr id="18" name="TextBox 17"/>
          <p:cNvSpPr txBox="1"/>
          <p:nvPr/>
        </p:nvSpPr>
        <p:spPr>
          <a:xfrm rot="19630685">
            <a:off x="10232088" y="4060081"/>
            <a:ext cx="1138844" cy="369332"/>
          </a:xfrm>
          <a:prstGeom prst="rect">
            <a:avLst/>
          </a:prstGeom>
          <a:noFill/>
        </p:spPr>
        <p:txBody>
          <a:bodyPr wrap="square" rtlCol="0">
            <a:spAutoFit/>
          </a:bodyPr>
          <a:lstStyle/>
          <a:p>
            <a:r>
              <a:rPr lang="en-US" dirty="0">
                <a:solidFill>
                  <a:srgbClr val="FFFF00"/>
                </a:solidFill>
              </a:rPr>
              <a:t>10 inches</a:t>
            </a:r>
          </a:p>
        </p:txBody>
      </p:sp>
      <p:cxnSp>
        <p:nvCxnSpPr>
          <p:cNvPr id="19" name="Straight Arrow Connector 18"/>
          <p:cNvCxnSpPr/>
          <p:nvPr/>
        </p:nvCxnSpPr>
        <p:spPr>
          <a:xfrm flipV="1">
            <a:off x="3179618" y="2087178"/>
            <a:ext cx="0" cy="1936182"/>
          </a:xfrm>
          <a:prstGeom prst="straightConnector1">
            <a:avLst/>
          </a:prstGeom>
          <a:ln>
            <a:headEnd type="triangle"/>
            <a:tailEnd type="triangle"/>
          </a:ln>
        </p:spPr>
        <p:style>
          <a:lnRef idx="3">
            <a:schemeClr val="accent4"/>
          </a:lnRef>
          <a:fillRef idx="0">
            <a:schemeClr val="accent4"/>
          </a:fillRef>
          <a:effectRef idx="2">
            <a:schemeClr val="accent4"/>
          </a:effectRef>
          <a:fontRef idx="minor">
            <a:schemeClr val="tx1"/>
          </a:fontRef>
        </p:style>
      </p:cxnSp>
      <p:sp>
        <p:nvSpPr>
          <p:cNvPr id="23" name="TextBox 22"/>
          <p:cNvSpPr txBox="1"/>
          <p:nvPr/>
        </p:nvSpPr>
        <p:spPr>
          <a:xfrm rot="16200000">
            <a:off x="2849479" y="2870725"/>
            <a:ext cx="1138844" cy="369332"/>
          </a:xfrm>
          <a:prstGeom prst="rect">
            <a:avLst/>
          </a:prstGeom>
          <a:noFill/>
        </p:spPr>
        <p:txBody>
          <a:bodyPr wrap="square" rtlCol="0">
            <a:spAutoFit/>
          </a:bodyPr>
          <a:lstStyle/>
          <a:p>
            <a:r>
              <a:rPr lang="en-US" dirty="0">
                <a:solidFill>
                  <a:srgbClr val="FF0000"/>
                </a:solidFill>
              </a:rPr>
              <a:t>8 inches</a:t>
            </a:r>
          </a:p>
        </p:txBody>
      </p:sp>
    </p:spTree>
    <p:extLst>
      <p:ext uri="{BB962C8B-B14F-4D97-AF65-F5344CB8AC3E}">
        <p14:creationId xmlns:p14="http://schemas.microsoft.com/office/powerpoint/2010/main" val="41332466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2774" y="1363289"/>
            <a:ext cx="5123811" cy="4031672"/>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3516" y="1363289"/>
            <a:ext cx="5254180" cy="4031672"/>
          </a:xfrm>
          <a:prstGeom prst="rect">
            <a:avLst/>
          </a:prstGeom>
        </p:spPr>
      </p:pic>
      <p:sp>
        <p:nvSpPr>
          <p:cNvPr id="4" name="TextBox 3"/>
          <p:cNvSpPr txBox="1"/>
          <p:nvPr/>
        </p:nvSpPr>
        <p:spPr>
          <a:xfrm>
            <a:off x="2809701" y="656707"/>
            <a:ext cx="2518757" cy="369332"/>
          </a:xfrm>
          <a:prstGeom prst="rect">
            <a:avLst/>
          </a:prstGeom>
          <a:noFill/>
          <a:ln>
            <a:solidFill>
              <a:srgbClr val="FF0000"/>
            </a:solidFill>
          </a:ln>
        </p:spPr>
        <p:txBody>
          <a:bodyPr wrap="square" rtlCol="0">
            <a:spAutoFit/>
          </a:bodyPr>
          <a:lstStyle/>
          <a:p>
            <a:r>
              <a:rPr lang="en-US" b="1" dirty="0">
                <a:solidFill>
                  <a:srgbClr val="FF0000"/>
                </a:solidFill>
                <a:latin typeface="Times New Roman" panose="02020603050405020304" pitchFamily="18" charset="0"/>
                <a:cs typeface="Times New Roman" panose="02020603050405020304" pitchFamily="18" charset="0"/>
              </a:rPr>
              <a:t>PVC tube ending path</a:t>
            </a:r>
          </a:p>
        </p:txBody>
      </p:sp>
      <p:sp>
        <p:nvSpPr>
          <p:cNvPr id="5" name="TextBox 4"/>
          <p:cNvSpPr txBox="1"/>
          <p:nvPr/>
        </p:nvSpPr>
        <p:spPr>
          <a:xfrm>
            <a:off x="8340436" y="656707"/>
            <a:ext cx="903318" cy="369332"/>
          </a:xfrm>
          <a:prstGeom prst="rect">
            <a:avLst/>
          </a:prstGeom>
          <a:noFill/>
          <a:ln>
            <a:solidFill>
              <a:srgbClr val="FF0000"/>
            </a:solidFill>
          </a:ln>
        </p:spPr>
        <p:txBody>
          <a:bodyPr wrap="square" rtlCol="0">
            <a:spAutoFit/>
          </a:bodyPr>
          <a:lstStyle/>
          <a:p>
            <a:r>
              <a:rPr lang="en-US" b="1" dirty="0">
                <a:solidFill>
                  <a:srgbClr val="FF0000"/>
                </a:solidFill>
                <a:latin typeface="Times New Roman" panose="02020603050405020304" pitchFamily="18" charset="0"/>
                <a:cs typeface="Times New Roman" panose="02020603050405020304" pitchFamily="18" charset="0"/>
              </a:rPr>
              <a:t>Switch</a:t>
            </a:r>
          </a:p>
        </p:txBody>
      </p:sp>
      <p:cxnSp>
        <p:nvCxnSpPr>
          <p:cNvPr id="7" name="Straight Arrow Connector 6"/>
          <p:cNvCxnSpPr>
            <a:stCxn id="4" idx="2"/>
          </p:cNvCxnSpPr>
          <p:nvPr/>
        </p:nvCxnSpPr>
        <p:spPr>
          <a:xfrm flipH="1">
            <a:off x="3840480" y="1026039"/>
            <a:ext cx="228600" cy="128489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9" name="Straight Arrow Connector 8"/>
          <p:cNvCxnSpPr>
            <a:stCxn id="5" idx="2"/>
          </p:cNvCxnSpPr>
          <p:nvPr/>
        </p:nvCxnSpPr>
        <p:spPr>
          <a:xfrm>
            <a:off x="8792095" y="1026039"/>
            <a:ext cx="451659" cy="134308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6" name="Straight Arrow Connector 15"/>
          <p:cNvCxnSpPr/>
          <p:nvPr/>
        </p:nvCxnSpPr>
        <p:spPr>
          <a:xfrm>
            <a:off x="7930342" y="1787236"/>
            <a:ext cx="861753" cy="465513"/>
          </a:xfrm>
          <a:prstGeom prst="straightConnector1">
            <a:avLst/>
          </a:prstGeom>
          <a:ln>
            <a:headEnd type="triangle"/>
            <a:tailEnd type="triangle"/>
          </a:ln>
        </p:spPr>
        <p:style>
          <a:lnRef idx="3">
            <a:schemeClr val="accent4"/>
          </a:lnRef>
          <a:fillRef idx="0">
            <a:schemeClr val="accent4"/>
          </a:fillRef>
          <a:effectRef idx="2">
            <a:schemeClr val="accent4"/>
          </a:effectRef>
          <a:fontRef idx="minor">
            <a:schemeClr val="tx1"/>
          </a:fontRef>
        </p:style>
      </p:cxnSp>
      <p:sp>
        <p:nvSpPr>
          <p:cNvPr id="18" name="TextBox 17"/>
          <p:cNvSpPr txBox="1"/>
          <p:nvPr/>
        </p:nvSpPr>
        <p:spPr>
          <a:xfrm rot="1659006">
            <a:off x="7639396" y="1999795"/>
            <a:ext cx="1005840" cy="369332"/>
          </a:xfrm>
          <a:prstGeom prst="rect">
            <a:avLst/>
          </a:prstGeom>
          <a:noFill/>
        </p:spPr>
        <p:txBody>
          <a:bodyPr wrap="square" rtlCol="0">
            <a:spAutoFit/>
          </a:bodyPr>
          <a:lstStyle/>
          <a:p>
            <a:r>
              <a:rPr lang="en-US" dirty="0">
                <a:solidFill>
                  <a:srgbClr val="FFFF00"/>
                </a:solidFill>
              </a:rPr>
              <a:t>5 inches</a:t>
            </a:r>
          </a:p>
        </p:txBody>
      </p:sp>
    </p:spTree>
    <p:extLst>
      <p:ext uri="{BB962C8B-B14F-4D97-AF65-F5344CB8AC3E}">
        <p14:creationId xmlns:p14="http://schemas.microsoft.com/office/powerpoint/2010/main" val="28261370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30739" y="205273"/>
            <a:ext cx="3921579" cy="5228772"/>
          </a:xfrm>
          <a:prstGeom prst="rect">
            <a:avLst/>
          </a:prstGeom>
        </p:spPr>
      </p:pic>
      <p:sp>
        <p:nvSpPr>
          <p:cNvPr id="3" name="TextBox 2"/>
          <p:cNvSpPr txBox="1"/>
          <p:nvPr/>
        </p:nvSpPr>
        <p:spPr>
          <a:xfrm>
            <a:off x="5321752" y="5822302"/>
            <a:ext cx="1539551" cy="369332"/>
          </a:xfrm>
          <a:prstGeom prst="rect">
            <a:avLst/>
          </a:prstGeom>
          <a:noFill/>
        </p:spPr>
        <p:txBody>
          <a:bodyPr wrap="square" rtlCol="0">
            <a:spAutoFit/>
          </a:bodyPr>
          <a:lstStyle/>
          <a:p>
            <a:r>
              <a:rPr lang="en-US" b="1" u="sng" dirty="0">
                <a:solidFill>
                  <a:srgbClr val="FF0000"/>
                </a:solidFill>
                <a:latin typeface="Times New Roman" panose="02020603050405020304" pitchFamily="18" charset="0"/>
                <a:cs typeface="Times New Roman" panose="02020603050405020304" pitchFamily="18" charset="0"/>
              </a:rPr>
              <a:t>Our Product</a:t>
            </a:r>
          </a:p>
        </p:txBody>
      </p:sp>
    </p:spTree>
    <p:extLst>
      <p:ext uri="{BB962C8B-B14F-4D97-AF65-F5344CB8AC3E}">
        <p14:creationId xmlns:p14="http://schemas.microsoft.com/office/powerpoint/2010/main" val="2900616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Characterization Test of Our Product</a:t>
            </a:r>
          </a:p>
        </p:txBody>
      </p:sp>
      <p:sp>
        <p:nvSpPr>
          <p:cNvPr id="3" name="Subtitle 2"/>
          <p:cNvSpPr>
            <a:spLocks noGrp="1"/>
          </p:cNvSpPr>
          <p:nvPr>
            <p:ph type="subTitle" idx="1"/>
          </p:nvPr>
        </p:nvSpPr>
        <p:spPr/>
        <p:txBody>
          <a:bodyPr/>
          <a:lstStyle/>
          <a:p>
            <a:r>
              <a:rPr lang="en-US" dirty="0"/>
              <a:t>Presented by group-02</a:t>
            </a:r>
          </a:p>
        </p:txBody>
      </p:sp>
    </p:spTree>
    <p:extLst>
      <p:ext uri="{BB962C8B-B14F-4D97-AF65-F5344CB8AC3E}">
        <p14:creationId xmlns:p14="http://schemas.microsoft.com/office/powerpoint/2010/main" val="29674160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t>UV vis of Cu</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6552" y="1493693"/>
            <a:ext cx="9858895" cy="4944852"/>
          </a:xfrm>
          <a:prstGeom prst="rect">
            <a:avLst/>
          </a:prstGeom>
        </p:spPr>
      </p:pic>
    </p:spTree>
    <p:extLst>
      <p:ext uri="{BB962C8B-B14F-4D97-AF65-F5344CB8AC3E}">
        <p14:creationId xmlns:p14="http://schemas.microsoft.com/office/powerpoint/2010/main" val="22152235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t>UV vis of Ni</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4494" y="1585133"/>
            <a:ext cx="9543011" cy="4786416"/>
          </a:xfrm>
          <a:prstGeom prst="rect">
            <a:avLst/>
          </a:prstGeom>
        </p:spPr>
      </p:pic>
    </p:spTree>
    <p:extLst>
      <p:ext uri="{BB962C8B-B14F-4D97-AF65-F5344CB8AC3E}">
        <p14:creationId xmlns:p14="http://schemas.microsoft.com/office/powerpoint/2010/main" val="22858465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t>UV vis of Cr</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1738" y="1344064"/>
            <a:ext cx="10008524" cy="5019900"/>
          </a:xfrm>
          <a:prstGeom prst="rect">
            <a:avLst/>
          </a:prstGeom>
        </p:spPr>
      </p:pic>
    </p:spTree>
    <p:extLst>
      <p:ext uri="{BB962C8B-B14F-4D97-AF65-F5344CB8AC3E}">
        <p14:creationId xmlns:p14="http://schemas.microsoft.com/office/powerpoint/2010/main" val="19048920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t>UV vis of Mixed sample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1032" y="1468755"/>
            <a:ext cx="9849935" cy="4940358"/>
          </a:xfrm>
          <a:prstGeom prst="rect">
            <a:avLst/>
          </a:prstGeom>
        </p:spPr>
      </p:pic>
    </p:spTree>
    <p:extLst>
      <p:ext uri="{BB962C8B-B14F-4D97-AF65-F5344CB8AC3E}">
        <p14:creationId xmlns:p14="http://schemas.microsoft.com/office/powerpoint/2010/main" val="7775910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Calculations of AAS</a:t>
            </a:r>
          </a:p>
        </p:txBody>
      </p:sp>
      <p:cxnSp>
        <p:nvCxnSpPr>
          <p:cNvPr id="5" name="Straight Connector 4"/>
          <p:cNvCxnSpPr/>
          <p:nvPr/>
        </p:nvCxnSpPr>
        <p:spPr>
          <a:xfrm>
            <a:off x="6489290" y="1356852"/>
            <a:ext cx="29497" cy="5501148"/>
          </a:xfrm>
          <a:prstGeom prst="line">
            <a:avLst/>
          </a:prstGeom>
        </p:spPr>
        <p:style>
          <a:lnRef idx="1">
            <a:schemeClr val="accent2"/>
          </a:lnRef>
          <a:fillRef idx="0">
            <a:schemeClr val="accent2"/>
          </a:fillRef>
          <a:effectRef idx="0">
            <a:schemeClr val="accent2"/>
          </a:effectRef>
          <a:fontRef idx="minor">
            <a:schemeClr val="tx1"/>
          </a:fontRef>
        </p:style>
      </p:cxnSp>
      <p:sp>
        <p:nvSpPr>
          <p:cNvPr id="4" name="Rectangle 3"/>
          <p:cNvSpPr/>
          <p:nvPr/>
        </p:nvSpPr>
        <p:spPr>
          <a:xfrm>
            <a:off x="422787" y="1472972"/>
            <a:ext cx="6096000" cy="4970976"/>
          </a:xfrm>
          <a:prstGeom prst="rect">
            <a:avLst/>
          </a:prstGeom>
        </p:spPr>
        <p:txBody>
          <a:bodyPr>
            <a:spAutoFit/>
          </a:bodyPr>
          <a:lstStyle/>
          <a:p>
            <a:pPr>
              <a:lnSpc>
                <a:spcPct val="107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For Cr:</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 </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Weight = 0.3 gm</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Volume = 200 mL</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PPM = (1500-6.641) PPM= 1493.359ppm</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After treatment, Remained Cr in mixed sample= (162.509-6.641) ppm= 155.868ppm</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After treatment, Remained Cr in individual sample= (355.836-6.641) ppm= 349.195ppm</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So, Removed Cr in individual sample= 76.62%</a:t>
            </a:r>
            <a:endParaRPr lang="en-US" sz="1600" b="1"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Removed Cr in mixed sample= ~90%</a:t>
            </a:r>
            <a:endParaRPr lang="en-US" sz="1600" b="1"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 </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p:cNvSpPr/>
          <p:nvPr/>
        </p:nvSpPr>
        <p:spPr>
          <a:xfrm>
            <a:off x="6764866" y="1356852"/>
            <a:ext cx="6096000" cy="5730351"/>
          </a:xfrm>
          <a:prstGeom prst="rect">
            <a:avLst/>
          </a:prstGeom>
        </p:spPr>
        <p:txBody>
          <a:bodyPr>
            <a:spAutoFit/>
          </a:bodyPr>
          <a:lstStyle/>
          <a:p>
            <a:pPr>
              <a:lnSpc>
                <a:spcPct val="107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For Cu:</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Weight = 0.73 gm</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Volume = 200 mL</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PPM Calculation:</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PPM = 3650 PPM – 6.63 PPM = 3643.37 PPM</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After treatment (individual):</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PPM = Sample – Blank</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 998.35 – 6.63</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 991.72 PPM</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Removed Cu= 72.78%</a:t>
            </a:r>
          </a:p>
          <a:p>
            <a:r>
              <a:rPr lang="en-US" dirty="0"/>
              <a:t>After treatment (mix sample):</a:t>
            </a:r>
          </a:p>
          <a:p>
            <a:r>
              <a:rPr lang="en-US" dirty="0"/>
              <a:t>PPM = 407.16 – 6.63 PPM</a:t>
            </a:r>
          </a:p>
          <a:p>
            <a:r>
              <a:rPr lang="en-US" dirty="0"/>
              <a:t>= 400.53 PPM</a:t>
            </a:r>
          </a:p>
          <a:p>
            <a:r>
              <a:rPr lang="en-US" dirty="0"/>
              <a:t> </a:t>
            </a:r>
          </a:p>
          <a:p>
            <a:r>
              <a:rPr lang="en-US" b="1" dirty="0"/>
              <a:t>Removed Cu= 89%</a:t>
            </a:r>
          </a:p>
          <a:p>
            <a:pPr>
              <a:lnSpc>
                <a:spcPct val="107000"/>
              </a:lnSpc>
              <a:spcAft>
                <a:spcPts val="800"/>
              </a:spcAft>
            </a:pP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33605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2733" y="0"/>
            <a:ext cx="10515600" cy="1325563"/>
          </a:xfrm>
        </p:spPr>
        <p:txBody>
          <a:bodyPr/>
          <a:lstStyle/>
          <a:p>
            <a:r>
              <a:rPr lang="en-US" b="1" u="sng" dirty="0"/>
              <a:t>Continued</a:t>
            </a:r>
          </a:p>
        </p:txBody>
      </p:sp>
      <p:sp>
        <p:nvSpPr>
          <p:cNvPr id="4" name="Rectangle 3"/>
          <p:cNvSpPr/>
          <p:nvPr/>
        </p:nvSpPr>
        <p:spPr>
          <a:xfrm>
            <a:off x="2540000" y="1308630"/>
            <a:ext cx="6096000" cy="5176161"/>
          </a:xfrm>
          <a:prstGeom prst="rect">
            <a:avLst/>
          </a:prstGeom>
        </p:spPr>
        <p:txBody>
          <a:bodyPr>
            <a:spAutoFit/>
          </a:bodyPr>
          <a:lstStyle/>
          <a:p>
            <a:pPr>
              <a:lnSpc>
                <a:spcPct val="107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For Fe:</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Fe came into treated water after treatment:</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PPM = 42.11 PPM</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For Ni (in mixed sample):</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Weight = 2 gm</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Volume = 200 mL</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Before treatment:</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PPM = 10000 PPM – 23.23 PPM = 9976.77 PPM</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After treatment:</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PPM = Mix – Blank = 421.48 PPM</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 </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Removed Ni= 95.76%</a:t>
            </a:r>
            <a:endParaRPr lang="en-US" sz="1600" b="1"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23466734"/>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Wisp</Template>
  <TotalTime>161</TotalTime>
  <Words>642</Words>
  <Application>Microsoft Office PowerPoint</Application>
  <PresentationFormat>Widescreen</PresentationFormat>
  <Paragraphs>109</Paragraphs>
  <Slides>25</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Aptos</vt:lpstr>
      <vt:lpstr>Arial</vt:lpstr>
      <vt:lpstr>Calibri</vt:lpstr>
      <vt:lpstr>Cambria</vt:lpstr>
      <vt:lpstr>Cambria Math</vt:lpstr>
      <vt:lpstr>Century Gothic</vt:lpstr>
      <vt:lpstr>Times New Roman</vt:lpstr>
      <vt:lpstr>Wingdings 3</vt:lpstr>
      <vt:lpstr>Wisp</vt:lpstr>
      <vt:lpstr>MILLSORPT-MILL SCALE TO METAL FREE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MILLSORPT-MILL SCALE TO METAL FREE   SET UP </vt:lpstr>
      <vt:lpstr>PowerPoint Presentation</vt:lpstr>
      <vt:lpstr>PowerPoint Presentation</vt:lpstr>
      <vt:lpstr>PowerPoint Presentation</vt:lpstr>
      <vt:lpstr>PowerPoint Presentation</vt:lpstr>
      <vt:lpstr>PowerPoint Presentation</vt:lpstr>
      <vt:lpstr>Characterization Test of Our Product</vt:lpstr>
      <vt:lpstr>UV vis of Cu</vt:lpstr>
      <vt:lpstr>UV vis of Ni</vt:lpstr>
      <vt:lpstr>UV vis of Cr</vt:lpstr>
      <vt:lpstr>UV vis of Mixed sample</vt:lpstr>
      <vt:lpstr>Calculations of AAS</vt:lpstr>
      <vt:lpstr>Continued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Novel Approach to Transforming Ferrous Mill Scale Waste into Nanoadsorbents for Purifying Water.</dc:title>
  <dc:creator>ASUS</dc:creator>
  <cp:lastModifiedBy>2011011 - Pritom Majumder</cp:lastModifiedBy>
  <cp:revision>21</cp:revision>
  <dcterms:created xsi:type="dcterms:W3CDTF">2024-09-16T04:59:06Z</dcterms:created>
  <dcterms:modified xsi:type="dcterms:W3CDTF">2026-06-23T10:06:22Z</dcterms:modified>
</cp:coreProperties>
</file>